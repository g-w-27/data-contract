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1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notesMasterIdLst>
    <p:notesMasterId r:id="rId6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Microsoft YaHe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Microsoft YaHei"/>
              </a:rPr>
              <a:t>检查项数演进：25 → 34 → 55 → 63 → 72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检查项数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0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基础结构
(8字段)</c:v>
                  </c:pt>
                  <c:pt idx="1">
                    <c:v>注入业务规则
(11字段)</c:v>
                  </c:pt>
                  <c:pt idx="2">
                    <c:v>反舞弊规则
(18字段)</c:v>
                  </c:pt>
                  <c:pt idx="3">
                    <c:v>PG+长度/SQL
(阶段5)</c:v>
                  </c:pt>
                  <c:pt idx="4">
                    <c:v>全量SQL规则
(阶段5终)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34</c:v>
                </c:pt>
                <c:pt idx="2">
                  <c:v>55</c:v>
                </c:pt>
                <c:pt idx="3">
                  <c:v>63</c:v>
                </c:pt>
                <c:pt idx="4">
                  <c:v>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430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A516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6350" cap="flat">
              <a:solidFill>
                <a:srgbClr val="E4E9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1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各位老师好，我汇报的项目是《ERP 财务数据契约治理平台》。一句话概括：我给财务数据装了一道自动化的「安检门」——脏数据在进入数仓之前就被拦下来，而不是等报表崩了再返工。
这个项目从一个最简单的本地数据质检实验做起，经过七个阶段的迭代，最终长成了包含定时调度、质量门禁、钉钉告警、变更治理和 LLM 辅助诊断的完整数据质量工程。全程在 100 万行真实基准数据上验证，最终落地 72 项自动化财务内控检查。
我是财务背景半路转码，这个项目也是我「懂业务、会工程」双向能力的证明。接下来用大约一个半小时，按「为什么做、怎么做、做出了什么、效果如何」的主线向各位汇报。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这是今天的汇报框架，共九个部分。
第一部分回答「为什么做」：从一次月结崩盘的真实痛点讲起，引出数据契约和审计左移这两个核心思想。第二部分是总体设计：七阶段的演进路线、四层架构和技术选型。第三到第八部分是主体，按项目真实的迭代顺序逐阶段展开：基础篇做通了第一份契约；规则深化篇把通用体检升级成反舞弊立法并交付了看板；生产化篇把系统搬进 Docker 和 Kestra 实现每日自动门禁；安全篇补上密码管理和钉钉告警；业务系统篇从零造了一个有真实业务因果链的 ERP 数据源和前台页面；最后是治理与 LLM 篇，给契约文件本身装上变更治理，并用大模型做克制的辅助。第九部分总结难点、创新与验证数字。
每个阶段我都会讲清三件事：这个阶段解决什么问题、怎么实现的、验证结果如何。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先看这个项目要解决的真问题。我是财务出身，这个场景我太熟悉了：月末关账前一晚，BI 报表突然崩了——某张报表金额变成一串 9，另一张表空值率从千分之五飙到百分之四十，还有一批交易的币种直接成了乱码。
事后排查，根因无非三种：上游 ERP 升级悄悄改了字段逻辑、第三方系统推送格式突变、或者业务员录入了异常金额。但等财务在报表上看到时，脏数据早就进了数仓，被各种下游引用，生米煮成熟饭。
传统治理方式是一个事后补救的死循环，有四个致命问题：发现太晚、定位太难、责任不清、修复靠人。最痛的是第四点——每次都用临时脚本打补丁，问题没有沉淀成机制，下个月换个姿势再犯一次。
这个项目要打破的就是这个循环。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破局的钥匙叫数据契约，Data Contract。可以把它理解成数据的「法律合同」：数据的生产者和消费者坐下来，把「数据应该长什么样」白纸黑字约定清楚——有哪些字段、什么类型、哪些必填、哪些唯一、取值必须在什么范围内。
关键在两点。第一，这份合同不是写在 Word 里给人看的，而是写在一份 YAML 文件里、可以被机器直接执行——数据进数仓之前，引擎拿着合同逐行扫描，违约就熔断告警，脏数据在门口就被拦下。第二，它是声明式的，财务主管、内控经理自己就能读懂、能修改，规则的所有权真正归业务。
所以它不是又一个清洗脚本。它是把数据质量标准从程序员的脑子里、从口口相传的口径里，变成一份正式、可执行、可审计的资产。这一条正好命中财务内控对「留痕、可回滚」的硬性要求。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可能有老师会问：查脏数据，写个 Python 脚本跑一遍不就行了？这是我在设计时认真权衡过的问题——脚本解决的是「功能」，契约解决的是「治理」，三个本质差别。
第一，规则所有权。脚本路线下规则埋在代码里，财务想调一个审批阈值，得找程序员改代码、走发版；契约路线下规则是声明式 YAML，业务人员自己改一行就生效。
第二，可读性。脚本非技术人员读不懂，口径随着人员流动就失传了；契约里 validValues 中括号 1 2 3 4 这种写法，财务主管一眼就能看懂。
第三，可审计。脚本散落在各人电脑里，谁改的、为什么改无从追溯；契约纳入 Git，每次变更可回滚可追责。
对财务场景来说，第三点不是加分项，是内控的硬性要求。这就是选契约路线的根本原因。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数据契约背后是一个更普适的工程思想，叫 Shift-Left，左移。
这条链路是数据的一生：ERP 里产生交易，接入落地，进数仓，最后变成报表。传统审计在链条最右端、也就是报表阶段才介入——这时发现问题的成本是最高的，就像产品出厂上市后才发现缺陷，召回返工的代价远大于产线上的质检。
左移就是把质检环节往链条左边搬，搬到数据进入数仓之前。本项目在「接入」和「数仓」之间设了一道契约门禁：数据到了先过安检，合格放行，违约熔断告警。
左右两边的卡片是两种模式的对比：右移的代价是污染扩散、回刷返工、反复再犯；左移的收益是门口拦截、规则沉淀、成本数量级下降。整个项目后续所有工程化动作——定时调度、告警、治理——都是在把这道门做得更牢、更自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巧妇难为无米之炊，先看验证用的数据。
我选的是 Kaggle 上的通用 ERP 会计风险数据集：100 万行、49 列，混有 NetSuite、Oracle ERP Cloud、Dynamics 365、QuickBooks 四种主流 ERP 的交易记录，内存占用 603.6 MB。它的版本号叫反舞弊基准 1.0——本身就是为审计风控场景设计的标准数据集。
选它有三个原因：一是字段语义和真实财务场景一一对应，手工凭证、非工作时间过账、职责未分离这些风险标志位都是现成的；二是百万行量级足够验证「全量校验替代人工抽查」这个主张；三是基准数据集让结果可复现、可对比。
也要诚实说明边界：基准数据本身比较干净，所以光跑出全绿不足以证明门禁有效——后面业务系统篇我专门设计了异常注入实验，人为埋入五类违规数据，验证门禁能精确把它们抓出来。这是后话。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先看整个项目的演进地图，七个阶段，一条清晰的主线。
阶段一基础篇，在本地把第一份数据契约跑通，25 到 34 项检查；阶段二注入七条反舞弊规则、做到 55 项，并用 Streamlit 搭了看板；阶段三把系统搬进 Docker 和 Kestra，数据迁进 PostgreSQL，实现每天凌晨六点自动门禁；阶段四补上生产环境的两条铁律——密码不落地、失败有人知；阶段五发现数据没有业务源头，于是从零造了一个六表一视图的 ERP 业务系统和造数器；阶段六给业务系统做了前台页面，让每个字段都有真实的业务出处；阶段七给契约文件本身装上变更治理，并引入大模型做克制的辅助。
注意主线逻辑：先证明规则有用，再让规则自动跑，再解决数据从哪来，最后解决契约谁来管。每个阶段的缺口都是上一阶段验证中真实暴露的，这是典型的 MVP 迭代式工程方法，而不是一开始就画一张宏大蓝图。
右下方这条数字线是检查项的演进：25、34、55、63、72，每一级都有明确的增量来源，后面会逐一展开。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这是项目最终的总体架构，自下而上四层。
最底层是业务侧：一个 Streamlit 实现的 ERP 前台，员工登录、提交申请、领导审批、自动记账——数据由真实业务动作产生，而不是凭空灌入。
往上是数据侧：PostgreSQL 业务库 erp_demo，六张表加一个视图。最上面的视图 erp_transactions 是契约的接口适配层，只暴露 18 个字段。
第三层是契约运行时：契约文件定义 72 项检查，datacontract-cli 执行，Kestra 每天凌晨六点自动调度，失败触发钉钉告警，另有 Pytest 做回归。
最上面是治理层：管理「契约本身的变化」——谁提的变更、为什么改、谁批的、影响哪些历史数据、怎么回退，还有 LLM Copilot 辅助。
一句话：业务侧管数据从哪来，数据侧管数据存哪，运行时管数据合不合格，治理层管规则本身合不合规。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运行机制上，系统由两条独立链路组成，只在 JSON 报告这一个点交汇。
左边是自动化校验链，全程无人值守：Docker Compose 拉起 Kestra 和 PostgreSQL，cron 表达式每天凌晨六点触发 Flow，Flow 临时创建一个 Python 任务容器，现装检查工具，连数据库执行 72 项检查，结果写成 JSON 报告；如果失败，errors 块就会向钉钉群发告警。容器配了自动重启策略，电脑重启后系统能自己恢复。
右边是人肉查看链，给业务用的：JSON 报告拷回本地，Streamlit 看板读取渲染，业务人员在浏览器里看指标卡、通过率、逐条明细，全绿时看到的就是当次的合规证明。
这个解耦是有意设计的：看板挂了不影响门禁照常跑，门禁也不用管看板怎么展示——JSON 报告是两条链路之间唯一的契约。这本身就是数据契约思想在系统设计上的一次应用。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技术选型一览，每一项都有明确理由，不是追热点。
契约引擎选 datacontract-cli 1.2.0，因为它是围绕数据契约这个开放标准构建的，YAML 是它的原生语言，底层用 Pydantic 做严格校验。
调度选 Kestra 而不是 Airflow：开源、Flow 用 YAML 声明、自带 Web 界面，对个人项目来说上手成本明显更低。
数据库选 PostgreSQL 18，它是解决「容器间共享数据」的结构性方案，后面会专门讲为什么文件挂载是死胡同。
容器底座是 Docker Desktop 加 WSL2，这是 Windows 上跑 Linux 容器的标准路径。
看板和前台用 Streamlit，纯 Python 就能交付数据网页，对我这种没有前端基础的人极其友好。
数据读写用 psycopg2 的 binary 预编译版，避免 Windows 上编译 C 扩展的坑；测试用 Pytest 做全链路回归；LLM 用 DeepSeek 网页对话版，走提示词工程加确定性闸门的路线——为什么不用 API，治理篇会讲。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架构的最后一块拼图是字段血缘——以「缺凭证」这条审计红线为例，看一个字段的完整旅程。
第一步，员工在前台提交申请时勾选「是否含支持性凭证」，落在申请表 support_document_flag；审批通过自动记账后，进入分录表 supporting_document_flag；再经视图做反向映射——NOT 运算，业务语言的「有凭证」变成审计语言的「缺凭证」 missing_support_flag；最终契约里的红线规则对视图执行 SQL，查出违规行数必须为零。
三个要点：第一，反向映射是确定性代码完成的，不靠人工判断；第二，18 个契约字段每一个都能回答来自哪张表、哪个操作、哪条派生逻辑，这是阶段六做的字段来源审计；第三，支持单据级反查，从任何一个交易号都能倒推出申请、审批、命中的审批策略和当事人。
有了这条血缘链，「数据合不合格」才真正变成了「业务合不合规」。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下面进入主体部分。第三章，基础篇。
这个阶段要回答一个最朴素的问题：数据契约这个思想，在真实数据上到底行不行？
方法上我坚持一个顺序：先探索数据，再写规则——不看数据就写规则是闭门造车。用 pandas 先把 100 万行数据的底摸清，再把认识转化成契约条款。
这个阶段的产出有四个数字：100 万行全量校验、首版契约 34 项检查、全程踩了九个坑并逐一排掉、百万行校验只要 1.42 秒。
接下来按「数据洞察 → 契约构建 → 踩坑排错 → 验证结果」的顺序展开。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写契约之前先做数据探索，用 pandas 的 info 和 describe 把数据底细摸清，得到三个直接决定规则设计的洞察。
洞察一，缺失分三个梯队：39 个字段 100 万行全非空，可以放心设为必填；发票号、审批人号各缺四百来条，占万分之四，这是业务性缺失——有些业务场景本就不产生，属正常设计；而供应商银行账户变更相关的 8 个字段空值率超过 99.97%，如果误设必填，全量数据都会被判违约。可见 required 不是越多越好。
洞察二，金额分布：最小值是负的 18.9 万，最大约 271.5 万。据此把防呆线设在 500 万——正常业务永远碰不到，只有系统错误或录入异常才会触发，误报率为零。
洞察三，数据集自带 12 个审计风险标志位，它们就是反舞弊规则的现成落点。
这三条共同体现一个方法论：每条规则都能追溯到证据的某一行，不拍脑袋。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契约怎么落地？先看架构，三层：规则层是那份 YAML 契约文件，写「数据应该什么样」；执行层是 datacontract-cli，读契约、连数据、执行检查；数据层就是 100 万行的 Parquet 文件。
初版契约只圈了 8 个核心字段，设计思路是「身份 + 业务事实 + 合规风险点」：transaction_id 是主键，必填且唯一；erp_system、过账时间、金额、币种、科目是业务事实；手工凭证标志和风险分级是合规风险点。
这里有一个贯穿全项目的方法论：检查项总数是可数、可验证的——字段数乘 3（存在性、类型、非空各一项），再加主键唯一性。8 个字段就是 25 项。
别小看这个公式，后面每次给契约加规则，我都用这个数字核对「新规则到底生效没有」——它是发现「静默失效」的关键武器，下一页就会讲到。首版跑通：25 项全绿，耗时 6.46 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看一段真实的契约内容，感受一下「业务可读」是什么意思。
models 下面是表，fields 下面是字段。transaction_id 声明 string 类型、required 必填、unique 唯一——对应主键；approval_level 是审批层级，quality 下面挂了一条 library 规则，invalidValues 加上枚举 1 2 3 4，意思是审批层级只能取这四个值。
请各位注意：这里面没有一行程序逻辑，全是事实陈述。财务主管看完可以直接说「审批层级应该加一档」——改 YAML 就行。这就是声明式的威力。
但 YAML 有一个特性：层级完全靠空格缩进表达。字段名 6 个空格、属性 8 个、规则项 10 个，一个空格都不能错。这既是它简洁的原因，也是本项目最危险的一个坑的来源——马上讲到。
另外文件头声明了数据契约规范版本 0.9.3，这是个开放标准，意味着契约资产不被任何单一工具锁定。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项目不是一帆风顺的，我把踩过的坑完整记录下来，这是答辩里最能体现工程能力的部分。先看环境四连坑，每一个都是 Windows 用户的经典痛点。
坑一，装 uv 直接报「没有匹配的发行版」，根因是本机 Python 还是 3.7.3，不满足最低 3.8 的要求——先升级 Python 3.12。
坑二最隐蔽：升级完项目还是跑在旧版本上，因为旧的虚拟环境 venv 绑定了 Anaconda 的 3.7——venv 的本质是一个指向具体解释器的文件夹，系统升级它不会跟着变。只能删掉重建。
坑三，装完命令找不到，因为工具装在了用户目录的 .local/bin，不在 PATH 里，update-shell 加重启解决。
坑四，装 pandas 和 pyarrow 才读得了 Parquet。
这四坑的方法论沉淀：先找根因行，不修症状；报错内容变了，就说明你在进步。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环境通了，接着是语义四连坑——从「能运行」到「跑得对」。
坑五，GBK 编码：中文 Windows 默认用 GBK 读文件，契约文件是 UTF-8 还带中文注释，一读就崩。设置 PYTHONUTF8=1 解决。注意这个环境变量是会话级的，新开终端就失忆——这个特性后面还会反复作祟。
坑六，quality 规则的写法不符合 Pydantic 模型，但报错信息精确到了字段路径，按图索骥改成规范的 Library 结构就好。
坑七最有戏剧性：契约里的数据文件名和磁盘真实文件名不一致，一个根因导致 25 项检查全部连带失败——满屏 26 条错误，只有最后一条是真凶。如果一条条去修表面症状，会修到天亮。
坑八，复制粘贴时 path 写了两遍，YAML 直接解析失败。
这四个坑沉淀出三条排错方法论：先找根因、报错变了就是进步、报错定位是最精确的地图。这套方法论在后续每个阶段都被反复验证。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九个坑里最危险的是第九个：缩进静默失效。
过程是这样的：我往契约里加了三条业务规则，跑测试，全绿。但我多看了一眼检查数——还是 25 项，规则根本没生效！修正缩进后二跑，28 项，只生效了一条；另外两条因为多缩进了两个空格，被 YAML 解析器当成了上一个字段的子字段——语法完全合法，引擎照常报绿，可那两条规则从来不存在。第三次把缩进对齐、合并重复字段，才到 34 项，三条全部生效。
为什么说它最危险？报错是看得见的失败，而这是看不见的失败——你以为门口有保安，其实门一直开着。对审计场景来说，这种假合规比没有检查更糟糕。
防御武器正是前面建立的计数公式：预期 34 项，实测 25，立刻露馅。所以我给自己立了规矩：盯数字，不盯颜色。语法合法不等于语义正确，运行成功不等于规则生效。这也是整个项目里我印象最深的一课。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基础篇收口，四个数字：34 项检查全绿；100 万行全量校验只要 1.42 秒；全量校验百分之百替代了传统的人工抽百分之一；注入了 3 条业务规则。
有个反直觉的细节：检查项从 25 增加到 34，耗时反而从 6.46 秒降到 1.42 秒——因为首次运行包含引擎冷启动。这说明百万行秒级校验完全可行，可以嵌入每一次 ETL 当例行门禁，而不是定期抽查。
三条业务规则每一条都有数据证据：审批层级枚举、标志位 0/1 限定、金额 500 万防呆线——正常业务最大值 271 万，这条线永远不误报。
价值上初步兑现了三层：技术上的秒级全量校验、业务上的三道内控防线、个人能力的证据链。
也要诚实声明局限：这时它还只是个手动敲命令的本地 Demo，通用规则防不了真正的舞弊，输出也只有程序员看得懂——这两个缺口正是下一阶段的目标。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第四章，规则深化与看板。
基础篇证明了契约「能跑」，这个阶段回答两个问题：规则怎么「拦得准」，结果怎么「看得见」。
拦得准：针对财务舞弊的四种高发形态，注入七条反舞弊规则，检查数从 34 升到 55，契约从「通用体检」升级为「反舞弊立法」。
看得见：用 Streamlit 搭可视化看板，把满屏 passed 的终端输出变成财务主管能看懂的大屏，打通数据治理的最后一公里。
四个关键数字：新增 7 条规则、55 项检查、三层严格度分级、3.96 秒跑完。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阶段二从两个真实暴露的缺口出发。
缺口一在规则层：基础篇的 34 项检查全是通用型体检——查格式、查枚举、查防呆，只能防「无心之失」。但真实财务舞弊是有套路的：制单人和审批人是同一个人、没有任何凭证就入账、该走高级别审批的走了低级别、把大额拆成多笔小额卡在审批线下——这四种高发形态，通用规则一个都拦不住。
缺口二在交付层：检查结果输出在黑色终端里，满屏 passed，财务主管完全看不懂——数据治理的成果停在了最后一公里。
所以这个阶段的定位是：把「能跑的检查工具」做成「拦得准、看得见的数据产品」。先看怎么拦得准。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七条规则是怎么来的？不是技术推导，是财务审计红线的代码化。
第一行，制单人和审批人是同一个人——这叫不相容职务未分离，「管钱的不管账」是内控最古老的原则，对应 same_preparer_approver_flag，值域只能为 0，出现 1 一票否决。
第二行，无凭证不得入账。第三行，审批层级不能低于金额应匹配的层级，防止越权。第四行最刁钻：把一百万拆成十笔九万九，每笔都刚好卡在审批线下面——分单规避，对应临近阈值标志。
第五六行是异常识别：夜间手工录入本身不违规（可能是正常加班），但标记必须合法，供风控模型区分。
最后一行是数据防呆：过账小时必须在 0 到 23、星期在 0 到 6，防的是时区转换和字段溢出这类系统错误。
请评委注意这张表的左两列和右两列：每一行都是财务语言和机器语言的互译——这就是「财务×数据」复合背景的价值所在。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七条规则不是平铺的，它们按严格度分成三层，这是本阶段的一个设计亮点。
最上层是舞弊红线层，值域只允许 0，一票否决：制审同人、缺凭证、越权、分单——出现即熔断，零容忍。这是「立法」，划定禁止行为。
中间是异常识别层，严格枚举 0 和 1：夜间手工录入这类标记必须合法可信——夜间录单本身不违规，可能是正常加班，但标记错了，风控模型就没法区分正常和异常。这是「体检」，描述合法范围。
底层是数据防呆层，表达式约束：小时 0 到 23、星期 0 到 6，挡的是时区转换、字段溢出这类系统错误。这是「保险丝」。
设计哲学一句话：[0,1] 是描述合法范围，[0] 是划定禁止行为——同一把尺子三种刻度，规则的严格度精确匹配风险的性质。过严会误伤正常业务，过宽会漏掉真问题。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看验证结果。左图是检查项数的完整演进：25、34、55，以及阶段五迁到 PostgreSQL 之后的 63、72。
重点讲 34 到 55 这一步：增量 21，恰好等于 7 个新字段乘 3——和预期完全一致，用计数公式证明了 7 条规则全部被引擎识别、逐行扫描，没有一条静默失效。
最终 55 项检查、0 失败、100 万行耗时 3.96 秒。
这里有个有趣的「预期反转」：我原本预期真实 ERP 数据总能抓出几个红色 failed，结果全绿——后来想明白了，这本身就是基准数据集，在内控层面极其干净。所以全绿不是规则没用，恰恰说明数据干净。
这就引出下一页的观点：全绿即合规证明书。而为了证明门禁真的能拦坏数据，我在阶段五专门做了异常注入实验——人为埋脏数据进去，看它抓不抓得住。这是后话。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这个阶段又踩了两个有代表性的坑，都是「版本」问题。
第一个，GBK 编码错误「随机复发」——有时候好有时候坏，像幽灵 bug。真根因是：PYTHONUTF8 这个环境变量是会话级的，新开终端就失忆，Python 又退回 GBK 默认。教训很深刻：会话级修复是每次重新救场，系统级持久化才是一次修好——这个认知直接推动了阶段三把环境写进 Docker 镜像和编排文件。
第二个，按网上教程用 --format 参数导出 JSON 报告，直接报错。查官方 release 才发现：这个参数从 v0.12.0 起就被移除了，属于破坏性变更，正确做法是改用 ci 子命令。网上的教程停留在旧版本。教训：版本号是报错的坐标系，遇 API 报错先看版本再看教程。
连带的，ci 和 test 输出的 JSON 结构还不一样，我把看板代码升级成自动识别字段名的兼容版，失配时把原始 JSON 打印到页面上当调试窗口——把黑盒变成白盒。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看板是交付给业务人员的界面，用 Streamlit 纯 Python 实现，分四层，每层回答一个问题。
顶部三枚指标卡：总检查项 55、通过 55、失败 0——回答「现在好不好」。中部通过/失败对比图，回答「好到什么程度」。底部逐条明细表，每条规则一行，通过的染绿、失败的染红，回答「具体哪条规则哪个字段」。最下面一条状态条：全绿时显示「数据质量符合财务内控合规要求」——回答「能不能用」。
右侧这张深色卡片是本阶段最重要的认知升级：全绿即合规证明书。契约有双重身份——它是扫描仪，能发现脏数据；它也是合规证明书，能证明数据干净。55 项全绿不是规则没用，而是一份可以出示给审计的证据。
技术选型上，Streamlit 对没有前端基础的人极其友好，纯 Python 就能交付网页，这也是我在这个项目里反复使用的策略：用最轻的工具交付最实的价值。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第五章，生产化迁移——整个项目工程量最大、踩坑最密集的一个阶段，也是我个人成长最快的一段。
目标是把「在 Windows 本机手动运行一次的检查」升级为「可长期运行、可自动调度、重启可恢复的生产级门禁系统」。具体是三重升级：运行环境从本机到 Docker 容器、数据存储从 Parquet 文件到 PostgreSQL、调度方式从手动到 Kestra 定时。
成果四个数字：100 万行全部迁入数据库、每天凌晨六点自动执行门禁、全程排掉 23 个环境配置的坑、最终在生产库上 55 项检查全绿。
这个阶段的故事性很强，我按「为什么要迁、底座怎么搭、数据怎么搬、任务怎么编排、类型怎么对齐」来讲。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阶段三的目标非常明确，三重升级。
第一重，运行环境：从 Windows 本机裸跑升级到 Docker 容器——容器意味着环境可移植、可复现，配置写进编排文件，重启能自愈，彻底解决上一阶段「终端失忆」的问题。
第二重，数据存储：从 600MB 的本地 Parquet 文件升级到 PostgreSQL 生产库。为什么必须迁，下一页用七次试错来讲，这是本阶段最关键的架构决策。
第三重，调度方式：从「想起来才手动查」升级到 Kestra 定时编排，每天凌晨六点自动查。
三重升级到位后的终态是：Kestra 调度、Docker 运行、PostgreSQL 存储、datacontract 执行、JSON 报告、Streamlit 看板——一套完整的自动化数据质量门禁系统。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为什么一定要把数据迁进数据库？这是七次连环试错换来的架构决策，也是本阶段我最想讲清楚的一页。
最初方案很直觉：Kestra 通过文件挂载直接读 Windows 目录里的 Parquet——这是「把数据搬到执行环境」的文件思维。然后连环撞墙：先是依赖冲突，收敛依赖解决；然后发现 Kestra 的临时任务容器根本不继承主容器的挂载；挂载字段写错位置，Kestra 只认 31 个合法字段；C 盘路径和 mnt c 两种写法都失败，因为 Docker Desktop 用的 WSL 发行版和我的 Ubuntu 根本不是同一个；想在主容器直接跑，发现它是 Java 镜像连 Python 都没有；用命名空间文件传，600MB 大文件又不现实。
七次之后得出结构性结论：在 Windows + Docker Desktop + WSL2 + Kestra 这个组合下，文件挂载是死胡同——不是配置问题，是架构问题。
于是范式转变：不再搬数据，而是让执行环境通过网络访问数据源。数据库天然是所有容器都能访问、有持久化、有健康检查的数据中台。迁库不是妥协，是升级。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底座怎么搭？四步，每一步都有坑。
第一步，CPU 虚拟化。Docker Desktop 启动报「检测不到虚拟化支持」，要先在任务管理器确认 VT-x 开启，再用 DISM 命令启用两个 Windows 组件。这里的坑是：命令加了 norestart 参数不重启就不生效——读命令参数比读报错更重要。
第二步，装 WSL2 和 Ubuntu，一条命令搞定，Windows 的 C 盘会自动挂载到 Linux 的 mnt c。小坑：Linux 输密码不回显，不是键盘坏了，是安全机制。
第三步，Docker Desktop 要显式勾选使用 WSL2 引擎，直到左下角出现绿色的 Engine running。
第四步，拉镜像：Kestra 镜像 580 秒，PostgreSQL 69 秒，首次编排启动 36 步全绿。
对转码选手来说，这一段最大的收获是建立了「先查底座、再查应用」的分层排查意识——虚拟化没开，上面所有配置都是空中楼阁。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容器架构长这样：两个容器、两个卷、一张网。
左边 postgres 容器，镜像是 postgres:18，一肩挑两职：既存 Kestra 自己的元数据，也存我们 100 万行业务数据；映射 5432 端口让宿主机也能连；带健康检查。右边 kestra 容器，Java 应用，Web 界面在 8080；它挂载了 Docker 的 sock 文件，所以能临时创建任务容器来跑检查；它的 Flow 定义都存在 PostgreSQL 里，所以重启不丢。
中间是 Docker 网络 kestra_default——同一网络里，容器之间用服务名就能互相找到对方，这个名字会被自动解析成 IP，这是后面一个经典坑的关键。
两个命名卷保证数据不丢，restart unless-stopped 保证容器意外退出自动拉起——重启电脑后 10 分钟内系统完全恢复。
compose 文件本身也迭代了四版：加端口映射、拉镜像策略从 always 改成 missing 解决国内网络拉取失败、加自愈策略。底部这条认知也很实用：改 compose 要重启容器才生效，改 Flow 点保存立即生效——因为它们的存储位置不同。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数据怎么搬？四步。
第一步，开门。官方 compose 默认没暴露数据库端口，本机连接报 Connection refused，加上 5432 端口映射。这里有个重要概念：端口映射只是开门——建立访问通道，不等于搬家。
第二步，连接。用 SQLAlchemy 建引擎，驱动选 psycopg2 的 binary 预编译版——Windows 上编译 C 扩展是著名劝退点，binary 版直接绕开。
第三步，搬家。pandas 读 Parquet，to_sql 写入，关键参数 chunksize 等于一万——一百万行分一百批写，防止内存溢出和连接超时。
第四步，验证。输出确认一百万行全部到账。
迁完之后，本地 Parquet 和数据库是两份独立存储，互不影响。另外注意类型映射：pandas 的 int64 到 PostgreSQL 是 bigint，int32 是 integer，float64 是 double precision——记住这个映射，下一页的类型对齐之战全靠它。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数据在库里了，怎么让检查每天自动跑？看最终版 Flow 的五个要素，每一个都是踩坑换来的。
第一，容器镜像 python:3.12——每次执行临时创建一个 Python 容器跑检查，用完即删，检查环境和调度器彻底隔离。
第二，namespaceFiles——把放在 Kestra 命名空间里的契约文件喂给任务容器。注意 Kestra 里的契约和本地契约是两份独立文件，改了要双向同步，这也是后面一个坑的来源。
第三，任务容器要加入和数据库同一张 Docker 网络——否则服务名 postgres 解析不了，这是「Name or service not known」那个坑的解法。
第四，数据库凭据通过环境变量运行时注入，不写死在 YAML 里——这为下一阶段的 Secret 改造留了口子。
第五，触发器 cron 每天凌晨六点。
最终输出：55 项全绿，4.32 秒，一百万行，exit code 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迁移后首战并不顺利，是一场类型对齐之战，三轮才打下来。
首轮 45 过 10 挂：契约里写 integer，数据库真实类型是 bigint；契约写 number，库里是 double precision——因为 pandas 类型和 PostgreSQL 物理类型的映射不是一对一的。
第二轮，全局把 integer 换成 bigint、number 换成 double，53 过 2 挂。
第三轮，剩下的 posting_hour 和 posting_dayofweek 两列，查真实 schema 发现它们原本是 int32，在库里是 integer，得改回去——这才 55 项全绿。
这场仗沉淀三条方法论：契约类型必须对齐数据库物理类型；批量修正后必须逐字段校准，全局替换解决百分之八十，剩下百分之二十个案最暴露问题；本地和 Kestra 两份契约除了 host 必须一字不差——我曾遇到本地全绿、Kestra 失败，查下来就是两份文件类型不一致。
最终 Kestra 定时任务实跑：55 项全绿，一百万行，exit code 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阶段三一共排了 23 个坑，挑四颗最有含金量的「珍珠」。
第一颗，网络拓扑：任务容器里写 localhost 连不上——因为 localhost 指向的是任务容器自己；改成服务名 postgres 还是报「名字解析不了」——因为任务容器不在那张 Docker 网络里，加 networkMode 才通。容器世界里，localhost 不再是「这台电脑」。
第二颗，凭据注入：报 missing_env，凭据没送到任务容器——容器之间什么都不自动继承，一切都要显式声明。
第三颗，日志辨伪：pip 的警告走 stderr 被标成红色 ERROR，但任务其实成功了——从此我只认 exit code，0 成功、1 一般失败、2 用法错误、127 命令不存在，不看日志颜色。
第四颗，重启灾难：电脑重启后服务全停，但数据在命名卷里不丢，按固定顺序恢复即可；加上自动重启策略后实现自愈。
这四颗珍珠的共同点是：它们都不是语法错误，而是对系统运行机理的理解——这是转码选手最难补、也最值得补的一课。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第六章，安全与告警。
上一阶段结束时系统已经「能自己跑」，但停在「能跑、却不够生产」的中间态，有两个硬伤：一是告警断在最后一环——失败信息只写在日志文件里，像贴在没人经过的走廊里的通知；二是数据库密码明文写在契约和配置里，一旦文件泄露就裸奔。
这个阶段不新增任何检查规则——55 项还是那 55 项——只补两条生产铁律：密码不落地、失败有人知。
四个数字：契约和编排里明文密码清零、失败告警数秒内直达钉钉群、Secret 方案迭代了三次才成功、期间还真实演练了一次密钥轮换。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Secret 改造是三次失败换来的。先说结论：Kestra 社区版没有 Secrets 管理界面，那是企业版付费功能，但官方留了「土办法」。
第一次尝试：compose 里注入普通环境变量，Flow 用 env 函数读——报 missing_env。用 docker exec 验证变量明明注入了，查下来发现：Kestra 的 env 默认只读 KESTRA 开头的白名单变量，这是安全设计，防止不可信的 Flow 读出全部环境变量。
第二次：在配置里把变量名加进白名单——还是 missing_env。这次学到：白名单管的是「能不能读」的权限，不是「把值送进任务容器」的注入——两条路部分生效、整体失败。
第三次用官方社区版方案：SECRET 下划线前缀加 Base64 编码，Kestra 启动时自动解码进内部存储，Flow 用 secret 函数读取——成功，55 项全绿。
底部红字是一个重要认知，评委可能会问：Base64 是编码不是加密，可逆、谁都能解，它只是换马甲不是上锁。真正起作用的是「不写明文加环境变量隔离」。对安全概念保持诚实，比假装安全更重要。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告警改造四步走。
第一步，在钉钉群里创建自定义机器人，拿到一个 Webhook 地址——它就是机器人的收件地址，任何程序向它 POST 特定格式的 JSON，钉钉就转成群消息。安全设置选自定义关键词，因为加签要动态算签名，纯 HTTP 任务做不了。
第二步，把 Webhook 按 Secret 方式编码注入。
第三步，核心改造：把 Flow 失败分支 errors 块里的 Log 任务——只负责「记下来」——换成 http.Request 任务——负责「发出去」。告警正文带 Flow 名、执行 ID、时间戳。
第四步，端到端验证，这也是我最喜欢的部分：故意把契约里的 host 改成一个不存在的名字，执行任务，55 项全失败，errors 块触发，几秒内钉钉群收到告警；再改回来，全绿，钉钉安静。
验收标准一句话：全绿不响、失败才响。还有个细节：验证完必须立刻改回 host，否则每天六点定时任务会推「狼来了」假告警。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这一阶段还有个计划外的插曲，反而是最好的安全教材：Webhook 真的泄露了。
开发过程中我误把 Webhook 明文贴进了对话记录。Webhook 本身就是密钥——拿到它的人都能往群里发消息，泄露即越权。
于是完整走了一遍标准的密钥轮换流程：作废旧钥匙——删掉旧机器人；签发新钥匙——重建拿新地址；重新配置——重新编码写回 compose 重启容器；验证可用——再次失败测试确认告警恢复。这就是企业里真实的 incident response 流程的迷你版。
本阶段收口时我给自己列了四项验收清单，全过才算完：host 改回且全绿、旧机器人删除、compose 更新重启、全链路验证通过。
认知上还有一个升级：复制粘贴不等于建立链接——VSCode 里的字符串和容器里的环境变量是两份独立配置，这是双端不一致类 bug 的总根因。
至此，项目认知主线补齐了第四块：安全与运维逻辑。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第七章是项目的第二次「从零到一」：业务系统与前台。
前面四个阶段验证的都是一份现成的静态数据——数据是被「喂」进去的，字段没有业务出处。比如「缺凭证」这条红线，是数据文件里本来就有的一个标志位，而不是哪个员工真的没传凭证。这让整个验证缺了业务因果链。
所以这个阶段我做了一个大胆决定：自己造一个模拟 ERP 业务系统。从零设计六张表一个视图，覆盖员工、项目、审批策略、业务申请、审批记录、财务分录；写一个可复现的造数器，产出一万零二十二条业务数据；再做一个 Streamlit 业务前台，员工在页面上提交申请、领导审批、自动记账——72 项契约检查的每一次 PASS 和 FAIL，都由真实业务动作触发。
四个数字：六表一视图、一万零二十二条数据、72 项检查、前台迭代到 V5 稳定版。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为什么要自己造数据？因为此前的验证有四个「不能」。
第一，数据没有业务源头——那份静态 Parquet 是被喂进来的；第二，不能规模化再生——一份数据用到底；第三最关键，不能演示「违规如何产生」——一直全绿，反而无法证明门禁真能拦住坏数据；第四，字段没有业务出处——18 个契约字段说不清来自哪个业务操作。
造完业务系统之后四个「能」全部补齐：数据由申请审批记账的真实业务流产生；造数器固定随机种子，任意规模可复现；可以异常注入——精确埋入违规数据反向验证门禁；每个字段都有了血缘。
架构上做了一个规范动作：分库而治——Kestra 的元数据库和新的业务数据库 erp_demo 分开，基础设施和业务数据互不污染。
底部照例诚实声明事实边界：这个阶段交付的是业务库、造数、异常注入、Pytest、看板和定时校验；登录、前台、权限这些是下一阶段的事。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先讲业务建模——这是我财务本行发挥的地方。
模拟的是最典型的「费用申请-审批-财务入账」场景，三条业务线：采购、研发、销售，每条按金额分三档，金额越大审批层级越高，共九条审批策略，POL001 到 POL009。
三个设计要点。第一，规则写成数据而不是代码：九条策略存在一张审批策略表里，业务部门想调门槛改数字就行，不用改程序——这其实就是数据契约「规则归业务所有」思想在业务规则上的复用。
第二，区间口径说死：下限包含、上限不包含——五万整落在五到二十万档，要走三级审批。口径不在建模时说死，边界单据永远扯皮，财务都懂这个痛。
第三，每条策略带一个临近阈值字段：比如五万档的临近线四万五，金额落在临近线以上就触发「分单规避」风控检查——这就把阶段二的反舞弊规则接到了真实业务上。
业务流转四步：提交申请、匹配策略、生成审批、自动记账。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这是全项目最重要的一张图：六表一视图，以及它们组成的血缘链。
左边两张主数据表：员工表 30 人、11 列，级别一到四；项目表 10 个项目、8 列。加上审批策略表 9 条规则，构成业务的基础配置。
中间三张是业务流转表，对应申请、审批、记账三个动作：业务申请表 13 列，记录谁申请、多少钱、有没有凭证；审批记录表 14 列，含一个关键设计「级别快照」，下一页细讲；财务分录表 24 列，是事实表，所有审计标志位都落在这里。
最右边金色的视图 erp_transactions 只有 18 列——它是契约接口适配层：从分录表裁出契约需要的 18 个字段，业务上下文字段不对外暴露。契约不改表名迁就业务，业务也不改结构迁就契约，中间用视图解耦。
整条链支持单据级反查：从任何一个交易号都能倒查出申请、审批、命中的策略和当事人——血缘闭环。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表设计里有三个细节，最能体现财务背景对数据建模的价值。
第一个，审批人级别快照。审批记录表里存的是审批发生那一刻的审批人级别，而不是实时去关联员工表查当前级别。为什么？想想这个场景：员工小王当年 3 级时审了一笔单，今年升 4 级了——如果实时关联，历史记录就显示「4 级审的」，审计留痕被悄悄改写。快照设计让历史不可篡改，这是审计思维在数据库设计里的直接体现。
第二个是个诚实的教训：审批表的标志位用了布尔型，分录表的同名标志位用了 0/1 整型——同名不同型，造数时直接报错。这个失误如实记录在文档里。教训是：跨表同名字段的类型，要在 ER 图上逐一对齐。
第三个，约束即内控：级别 CHECK 约束限一到四、预算必须非负、申请加序号联合唯一防重复审批、外键保证孤儿单据插不进来——把内控规则直接编译进数据库层，让非法数据物理上进不来。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视图 erp_transactions 是契约和业务系统之间的翻译官，这一页讲它的设计取舍。
它做什么：从 24 列的分录表里裁出 18 列——正好是契约要检查的全部字段；业务上下文字段不暴露给契约。
为什么不直接改表结构去迁就契约？两个原因：业务表结构应该服务于业务，不该为质检工具扭曲；契约接口要保持稳定，业务表以后演化不会波及契约。视图不存数据、零冗余——这是软件工程里典型的适配层、防腐层模式。
字段映射上有一个精彩案例：申请表的「有凭证」标志，到分录表变成「含凭证」标志，到视图做 NOT 运算变成「缺凭证」标志——业务语言翻译成审计语言，而翻译逻辑是确定性的 SQL，不依赖人工。
另外保持两套口径：业务风险分档低中高，和契约的合规判定 PASS/FAIL，是两套独立口径，谁也不替代谁——业务上中等风险的单可能完全合规，合规的单也可能是高风险，这正是内控的多维视角。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数据怎么造？造数器是一条五步流水线。
第一步，从库里现读主数据——30 个员工、10 个项目、9 条规则，不硬编码，主数据变了造数自动跟随。第二步，按规则随机组合，选审批人时保证级别达标且不等于制单人——造出来的数据天生合规。第三步，金额生成在安全区间：策略下限加一千到临近线减一千，且不超过四百九十九万——避开五百万红线和临近阈值，保证基线数据干净。第四步，时间摊铺到约二十个工作日、早八晚五、周末顺延。第五步，三表批量写入，全成功才提交，任一失败整体回滚。
几个工程细节：固定随机种子保证可复现；金额用 Decimal 不用浮点——0.1 加 0.2 不等于 0.3，浮点金额是财务大忌；事务化写入是因为真的踩过「打印写入完成、库里却没数据」的半截脏数据。
迭代路径也遵循工程纪律：先 10 条冒烟试通链路，再放量一万条。最终数据量从手工 12 条到 10022 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验证环节有两个本阶段最有分量的发现。
第一个是个「惊悚」发现：library 规则空转。库里明明有三条同人审批、三条缺凭证的违规数据，用 library 加 invalidValues 写的规则却一路绿灯——这个版本的 CLI 根本没真正执行这类规则。回想阶段一的「静默失效」，这次是工具层面的。处置：12 条业务规则全部改写为 type: sql，直接给数据库执行 SQL、违规行数必须为零——契约这才「醒过来」。文档里如实标注：未下定论为官方 Bug。
契约也随之长到 72 项：54 项基础、1 项唯一、5 项长度、7 项业务 SQL、5 项风险 SQL。一万条数据上全 PASS，本地 1.5 秒、Kestra 1.38 秒。
第二个是异常注入实验，回答「门禁真能拦坏人吗」：对五笔单据精确注入五类异常，包括一笔六百万超额。结果 72 项里恰好 5 项 FAIL，和注入一一对应，67 项照常通过——无漏报、无误报。配合 Pytest 五项回归全过。这才是门禁有效性的完整证据链。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阶段六给业务系统装上「脸」——ERP 业务前台。六个页面模块。
登录页：工号加密码认证，这里明确标注是演示级的 demo_hash 认证，不是生产级——对自己的边界保持诚实。我的信息页：回显组织层级和系统角色，直观展示「职级不等于授权」。新建申请：提交申请落库，金额、事由、有没有凭证。我的申请：查自己单子的状态。我的审批：只有 approver 角色能进，审批通过的那一刻自动记账生成分录——这是业务流的闭环点。最后是看不见的第六块：自动路由，按金额区间匹配审批策略、按四个条件自动选定审批人。
架构形态如实说明：Streamlit 单文件多页面应用，psycopg2 直连数据库，没有 REST API 层——页面事件直接变成 SQL。这是故意的克制：这个项目的前台不是要做一套真 ERP，文档自己的定位是「围绕 Data Contract 构建的最小业务系统」。它的使命是让 18 个字段有业务出处、让 72 项检查由真实动作触发。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前台有两个核心逻辑发动机。
第一个 match_policy：员工提交申请后，系统拿业务类型、类别、金额三要素，按左闭右开区间去匹配审批策略表，得出这笔单需要几级审批。规则是数据不是代码，业务部门自助调门槛。
第二个 choose_approver：定了级别之后自动选审批人，四个条件同时满足：在职、级别达标、有 approver 角色、且不能是申请人本人。注意第三第四条——第三条体现「职级不等于授权」，4 级员工没授 approver 角色也审不了；第四条就是不相容职务分离原则，直接写进路由算法。
审批点「通过」的瞬间，自动记账函数生成分录：交易号按规则派生，过账时间、金额、科目、制单人、审批人一次落齐，风险标志位同步计算，经视图进入契约检查范围。
这就实现了阶段六的核心使命：员工点一下「通过」，一笔能被 72 项规则检查的真实交易就诞生了——PASS 和 FAIL 都由真实业务动作触发，不再是数据文件里写死的标志位。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V3 版本修了一个让我印象最深的 bug：数据库报唯一键冲突，交易号 TRX10025 已存在。
翻译一下：同一个审批被执行了两次，生成了两笔相同编号的分录——重复记账，这是财务系统的头号禁忌，在自家系统上演了。
根因是自动记账函数里存在两套 INSERT 语句。修复是三层防护：治本，删掉一套，只留唯一写入路径；数据库兜底，ON CONFLICT DO NOTHING，重复写入静默忽略；再加行级锁和审批状态机，只有「待审批」状态的单才能审批——并发双击、刷新页面都不会产生二次记账。
这里讲两个概念。幂等：同一操作执行多次，结果和执行一次相同——这是支付和财务系统的生命线，支付宝能顶住重复点击靠的就是它。
还要特别说明一个文档态度：报错修复是已验证的事实，但「行锁能防住并发」标注为逻辑推导——因为没有做双会话实测。整份文档用六档证据标记区分事实与推断，这本身就是工程诚实。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V5 版本补上了权限体系，叫「极薄 RBAC」。RBAC 就是基于角色的访问控制——权限跟着角色走，不跟着人走。
核心设计是两条独立的轴：组织层级是 employee_level，你是什么职级；系统授权是 employee_roles，你在系统里能干什么。两者刻意分离——4 级领导如果没被授 approver 角色，照样审不了单。这就是「职级不等于授权」。
角色只有四个：employee 提申请、approver 审批、data_admin 管数据、contract_admin 管契约——第四个是下一阶段治理的主角。
安全上有双重校验：菜单按角色显隐只是体验层，审批动作在后端还要再过一次 require_role 加「不能审自己的单」，违反直接抛权限异常——界面隐藏防君子，后端拦截才防得住绕过界面直接调函数的人。
为什么叫极薄？因为我明确不做完整 OA、不做工作流引擎、不做 HR 权限中心——对项目边界来说，决定不做什么和决定做什么一样重要。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阶段六的复盘讲两件事：一次失败和一次成功。
失败是 V6 契约治理初版——它在与 AI 的多轮讨论中，被三句业务常识当场推翻。第一句：他怎么自己提出、自己审批啊——治理单也必须发起人和审批人不同。第二句：网页绝对不能直接改 YAML——正确的人机分工是网页只收集自然语言意图，LLM 负责翻译成结构化规则，确定性的 Python 负责施工。第三句：业务审批和技术 CI 验证不能混成一道门——CI 绿了不代表业务上允许改。V6 整体废弃，但这三条教训全部沉淀进了阶段七的正确设计——所以这不是弯路，是探路。
成功是 V4 的 18 字段来源审计：逐个回答每个契约字段来自哪张表、哪个操作、哪条派生逻辑。完成后有完整的端到端证据链：一笔真实申请 10023 号，经审批生成 10024 号分录，被契约检查覆盖——缺凭证这条红线的 PASS 和 FAIL 都由真实业务动作触发过。
阶段六在 V5 形成稳定基线：全部核心功能已验证，生产级认证明确标注不具备，契约治理转入阶段七重构。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第八章，治理与 LLM——项目收官阶段，也是技术前瞻性最强的一部分。
前面六个阶段建好了「Contract 管数据」和「Runtime 管 Contract 持续执行」。但 V5 基线有一个没人管的缺口：72 项检查写在一个 YAML 文件里，任何人都能打开、修改、保存——谁改的、为什么改、谁批的、改完历史数据还算不算数，全是空白。类比：会计制度放在共享文档里谁都能改。
这个阶段补上最后两句话：Governance 管 Contract 的变化，LLM 辅助治理与运行诊断。
四个数字：变更单 21 个审计维度、LLM 输出过两道确定性闸门、危险需求拒答率从三分之零修复到二分之二、18 条黄金测试集防模型退化。
LLM 在这个项目里的位置极其克制——它从头到尾没写过一行生产契约、没绕过一次人工审批，后面用实测数据说话。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阶段七要补的缺口，用四个无人回答的问题最能说明：契约文件谁都能改——谁改的？为什么改？谁批的？改完以前那批合规的数据还算不算数？——全是空白。这就像会计制度放在共享文档里谁都能编辑，在内控视角下是不可接受的。
治理目标就是把契约变更管到与财务凭证同级的水平：变更单记录谁提的、为什么、谁批的，且禁止自己批自己的单；Git 记录改了哪个文件哪次提交；影响评估回答历史数据在新旧规则下的变化；版本可以回退。
LLM 在这个阶段引入，但边界划得非常死。做的只有三件事：Contract Copilot 把财务的人话翻译成结构化规则的「候选」，绝不自动改生产契约；Failure Explanation 只解释已经被确定性规则判出来的异常类别，绝不让 LLM 判断哪条数据违规；Incident Copilot 把一次执行的失败聚合成人能读的事故报告。
明确不做的：智能问答、Text2SQL——没有真实需求来源，直接移出主线。对 LLM 的克制，本身就是设计。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治理骨架在第一天落地：两张表加四道闸门。
两张表：变更请求表 21 个字段——变更编号、从哪个版本到哪个版本、业务理由、LLM 生成的规则 JSON 和 diff、发起人、审批人、Git 提交号、七种状态的数据库 CHECK 约束；审计表 8 个字段，只在提交、审批、驳回三个时机写。同时新增一个独立角色 contract_approver——契约审批权和业务审批权分开。
四道闸门：角色闸门，没角色进不了审批页；状态闸门，只有待审批状态能流转；自审批闸门，发起人不能审批自己的单，列表层 SQL 过滤加写库层判断双保险；事务闸门，行级锁防并发双审批。
验收是正负双向的：正向 E001 提单 E002 批，版本从 1.0.0 到 1.0.1；负向测试更有说服力——没角色的人审批被拒，临时授权后想批自己的单依然被拒，测完立刻撤销临时权限。还顺手修了一个 8 小时时间差 bug：Python 本地时间和数据库时区不一致，统一用数据库时间。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Copilot 的完整链路，六个环节，核心思想是「LLM 只翻译，确定性系统干活」。
财务说一句人话，比如「超过 500 万的采购要 4 级审批」；LLM——用的是 DeepSeek 网页对话版——把它翻译成结构化 JSON；然后过两道闸门：第一道 JSON Schema 闸，检查结构、算符白名单、必填项、禁止额外字段；第二道字段白名单闸，规则引用的字段必须在契约里真实存在；过了闸才由确定性 Python 生成规则 ID 和 YAML diff，产出 candidate 候选版——注意，候选版永不覆盖生产契约，它必须走上一页的变更单流程，人工审批通过才生效。
几个设计细节：先定 JSON 合同再接模型，边界先于模型；规则 ID 用内容的哈希前 12 位，内容变 ID 变，天然幂等；YAML 按缩进插入而不是整体重序列化，保住注释，diff 可审。
模型取证方式也要说明：用网页对话而非 API，每次原始返回逐字存档，用模型版本、提示词版本、输入哈希三件套固化证据——诚实声明不伪称全链路可复现。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 LLM 放进财务内控系统，安全模型是什么？三层防御，每层管一件事，也承认每层的天花板。
第一层，提示词，管「模型怎么想」：示例里不放真实业务值防止模型照抄，写明两种必须拒答的情形——没有可量化依据的、削弱内控的，还要纠正业务语义，比如审批层级是下限语义，要写大于等于 N 而不是等于 N。但它的天花板是：模型是概率系统，提示词永远可能被绕过。
第二层，确定性闸门，管「规则合不合法」：Schema 闸查结构，字段白名单闸查字段存在性。代码百分之百可预测，不依赖模型自觉。但它的天花板是：拦得住格式错误，拦不住「语义正确但业务上没有依据」的规则。
第三层，变更单，管「放行不放行」：candidate 和 diff 交给人审批，影响评估辅助决策，Git 留痕可回退。前两层漏掉的一切，最终由人兜底。
这是整个第七卷最重要的结论：三层缺一不可，谁也不能替另一层背书。承认每层的天花板，才是对系统安全最大的诚实。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这一页全是实测数据，用 DeepSeek 真实模型跑了六句边界句和危险需求取证，六个发现。
第一，模型擅长数值边界：四句全对，「恰好 500 万」翻译成等于 5000000，「超过 500 万零 1 元」翻译成大于 5000001，分毫不差。
第二，模型不擅长内控语义：三句涉及审批级别的全部把「需要 N 级审批」写成等于 N，而不是大于等于 N——后果是把走了更高级别审批的合规单据误判成违规，这是隐蔽的假阳性。
第三，闸门有天花板：一句没有任何数值依据的需求，模型照样编了个 500 万阈值，而且穿透了两道闸——格式正确不代表业务有依据。
第四最危险：三句危险需求——关闭所有检查、忽略缺凭证、允许自审批——初版提示词下全部被翻译成合法 JSON，拒答率零。
第五，还发现一个语义翻转 bug：放松类需求被写成「强制违反」，方向完全反了。
第六，用对照实验定真凶：开一个全新对话，输出和历史逐字节相同——排除上下文污染，确认真因是提示词示例泄漏。这种实验设计思路，是从排错方法论一路长出来的。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针对实测发现，提示词 v2 做了三处手术。
第一刀，示例去泄漏：示例里的具体值换成占位符，并明文声明「原话里没有的一律不许自己填」。
第二刀，补拒答情形：明确两种必须拒答——没有可量化依据的、削弱内控的；而且拒答输出是一行 REJECT 加原因，它不是合法 JSON，天然会被 Schema 闸拦下——拒答机制和闸门是设计成一个系统的。
第三刀，语义纠正：明确审批层级是下限语义，写大于等于 N。
修复效果看双向验证：危险需求拒答率从三分之零升到二分之二，防线立起来了；同时正常需求不被误拒，没有因噎废食。只盯拒答率一个指标，把模型调成见啥都拒，也是一种失败。
右边是配套工程：18 条 Evals 黄金测试集，用历史模型原始返回离线回放两道闸，覆盖阈值边界和危险需求，脚本退出码 0 或 1，挂进 GitHub Actions，每次 push 或 PR 自动跑——以后换模型、改提示词，都必须先过回归，防止语义悄悄退化。基线数据如实标注：偏差 0、被拦 6 条、闸门缺口 5 条，缺口由变更单兜底。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除了变更治理，阶段七还交付了运行诊断三件套。
第一件，失败解释器。注意分工：确定性分类在前——规则 ID 精确到具体字段具体条款，这笔交易违规是契约判的，不是 LLM 判的；LLM 只解释「这类问题通常是什么原因」，像顾问解释审计师的结论。带五键缓存，同类问题只调一次模型，任何版本变化自动隔离。实测注入六百万脏数据，真报 FAIL，验证后回滚无污染。
第二件，结构化修复单。确定性 SQL 定位到具体单据和当事人，按固定模板输出原因和建议——原因建议来自映射表，LLM 完全不参与。实测把六百万那笔精确定位到了交易号、申请号和员工 E023。
第三件，告警去重。同一个失败每次定时执行都告警，会造成告警疲劳。用进程内集合加过期时间做去重，默认三百秒窗口。这里有个反潮流的决策：明确不引入 Redis——单进程够用，不为炫耀堆技术。六项测试全过。
三件套的共同哲学：确定性的归代码，解释性的归 LLM，各归其位。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这一页是治理能力的全景收尾。
左边，Incident Copilot：把一次 Kestra 执行的多类失败聚合成一份四节事故报告——已确认事实、异常证据、潜在原因、修复建议。它不是孤立的新系统，而是复用了解释器的缓存、告警去重、修复单定位、审计日志四个既有模块——好的架构让新能力变成「组合」而不是「重写」。事故 ID 也是内容寻址，天然幂等。
右边是治理三件套。第三号，变更影响评估：改规则前先回答「以前那 137 笔数据怎么办」——新旧规则下历史数据分成四类，只要出现「旧合规新违规」的单据，必须独立审批人签字。第四号，版本回退：只移动版本指针，不碰业务数据，而且回退本身也要登记变更单走审批。第五号，事中邻近提示：阈值调整前后，落在正负百分之五邻近带的历史交易会被提示——仅提示绝不拦截，而且血缘没就绪时不启用。
联合验收八项测试全过。左下角这条 Git 证据特别说明一下：证据提交只包含候选版和 diff，生产契约一个字没动——LLM 介入的深度到此为止。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最后一部分，总结与展望。
我把全部内容收敛成四块：项目最难的地方和创新的地方、所有关键验证数字的汇总、我作为半路转码选手的个人收获、以及如果继续做下去的规划。
主线还是答辩一开始那条：为什么做、怎么做、做出了什么、效果与优势。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把七个阶段的硬仗收敛成六组「难点—创新」对照，左边是拦路虎，右边是对应的破法。
第一组，Windows 容器环境 23 个坑，对应「文件思维到数据库思维」的范式转变。第二组，规则静默失效——这是全项目最危险的坑，对应检查项计数公式，让「规则有没有生效」变成可验证的数字。第三组，工具链版本漂移，对应防御性兼容设计和「版本号是报错坐标系」的方法论。第四组，基准数据全绿证明不了门禁有效，对应异常注入反向验证——五类违规注入与五项 FAIL 一一对应。第五组，重复记账事故，对应幂等三层防护。第六组，LLM 不可控，对应三层防御模型加确定性闸门加黄金集回归。
请各位评委注意：每一组创新都不是从资料里看来的，是被真实的问题逼出来的——这就是「做中学」和「学中做」的区别。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这页是全部关键验证数字的汇总，我不逐一念，挑三行说明。
第一行是体量与性能：100 万行基准数据、72 项检查、万级数据 1.38 秒跑完、业务系统造数 10022 条。
第二行是有效性证据：六表一视图的数据模型、异常注入五发五中、每天六点的自动门禁、数秒内的钉钉告警。
第三行是治理成熟度：18 条黄金集偏差为零、治理测试八过八、变更单 21 个审计维度。
最后一个数字我想单独说：40 多个真实排错实录。它们和前面所有光鲜的数字同等重要——因为这些坑证明了这些数字不是抄来的、不是运气，是一个一个坑爬出来之后站住的地方。这份排错实录也是项目文档里最厚的部分。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最后用答辩主线收口。
为什么做：打破月结崩盘、事后补救的死循环，把审计左移到数据源头。
怎么做：以数据契约为核心思想，用七阶段 MVP 迭代——先证明规则有用，再让规则自动跑，再补上业务源头，最后给契约本身装上治理。
做出了什么：一套每天自动运行的财务数据质量门禁——72 项内控检查、钉钉告警、可视化看板、变更治理和克制的 LLM 辅助，全部在真实数据上验证过。
下一步也诚实标注为规划：数据量再上一个量级就把影响评估迁到 Spark 或 ClickHouse；多团队并行就引入配置中心；LLM 切到 API 形态后把护栏四做完整；面向真正企业化还有五层差距要补，这些都写在文档里，有明确的触发条件而不是空头支票。
这个项目对我个人的意义，是财务、数据、工程三个身份的交汇——懂业务、会工程、能排错。我的汇报到此结束，感谢各位老师，请批评指正！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4710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财务数据契约治理平台 · 项目答辩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09360"/>
            <a:ext cx="11183112" cy="10973"/>
          </a:xfrm>
          <a:prstGeom prst="rect">
            <a:avLst/>
          </a:prstGeom>
          <a:solidFill>
            <a:srgbClr val="3A4A8F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A0D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slide1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1"><p:spTree><p:nvGrpSpPr><p:cNvPr id="1" name=""/><p:cNvGrpSpPr/><p:nvPr/></p:nvGrpSpPr><p:grpSpPr><a:xfrm><a:off x="0" y="0"/><a:ext cx="0" cy="0"/><a:chOff x="0" y="0"/><a:chExt cx="0" cy="0"/></a:xfrm></p:grpSpPr><p:sp><p:nvSpPr><p:cNvPr id="2" name="Shape 0"></p:cNvPr><p:cNvSpPr/><p:nvPr></p:nvPr></p:nvSpPr><p:spPr><a:xfrm><a:off x="8138160" y="685800"/><a:ext cx="3383280" cy="3383280"/></a:xfrm><a:prstGeom prst="roundRect"><a:avLst><a:gd name="adj" fmla="val 3243"/></a:avLst></a:prstGeom><a:solidFill><a:srgbClr val="2B3A7A"/></a:solidFill><a:ln w="19050"><a:solidFill><a:srgbClr val="C9A227"/></a:solidFill><a:prstDash val="solid"/></a:ln></p:spPr></p:sp><p:sp><p:nvSpPr><p:cNvPr id="3" name="Text 1"></p:cNvPr><p:cNvSpPr/><p:nvPr></p:nvPr></p:nvSpPr><p:spPr><a:xfrm><a:off x="8138160" y="868680"/><a:ext cx="3383280" cy="2011680"/></a:xfrm><a:prstGeom prst="rect"><a:avLst></a:avLst></a:prstGeom><a:noFill/><a:ln></a:ln></p:spPr><p:txBody><a:bodyPr wrap="square" lIns="0" tIns="0" rIns="0" bIns="0" rtlCol="0" anchor="ctr"></a:bodyPr><a:lstStyle/><a:p><a:pPr algn="ctr" indent="0" marL="0"><a:buNone/></a:pPr><a:r><a:rPr lang="en-US" sz="9600" b="1" dirty="0"><a:solidFill><a:srgbClr val="C9A227"/></a:solidFill><a:latin typeface="Microsoft YaHei" pitchFamily="34" charset="0"/><a:ea typeface="Microsoft YaHei" pitchFamily="34" charset="-122"/><a:cs typeface="Microsoft YaHei" pitchFamily="34" charset="-120"/></a:rPr><a:t>契</a:t></a:r><a:endParaRPr lang="en-US" sz="9600" dirty="0"/></a:p></p:txBody></p:sp><p:sp><p:nvSpPr><p:cNvPr id="4" name="Text 2"></p:cNvPr><p:cNvSpPr/><p:nvPr></p:nvPr></p:nvSpPr><p:spPr><a:xfrm><a:off x="8138160" y="3017520"/><a:ext cx="3383280" cy="365760"/></a:xfrm><a:prstGeom prst="rect"><a:avLst></a:avLst></a:prstGeom><a:noFill/><a:ln></a:ln></p:spPr><p:txBody><a:bodyPr wrap="square" lIns="0" tIns="0" rIns="0" bIns="0" rtlCol="0" anchor="ctr"></a:bodyPr><a:lstStyle/><a:p><a:pPr algn="ctr" indent="0" marL="0"><a:buNone/></a:pPr><a:r><a:rPr lang="en-US" sz="1300" spc="400" kern="0" dirty="0"><a:solidFill><a:srgbClr val="CADCFC"/></a:solidFill><a:latin typeface="Microsoft YaHei" pitchFamily="34" charset="0"/><a:ea typeface="Microsoft YaHei" pitchFamily="34" charset="-122"/><a:cs typeface="Microsoft YaHei" pitchFamily="34" charset="-120"/></a:rPr><a:t>DATA CONTRACT</a:t></a:r><a:endParaRPr lang="en-US" sz="1300" dirty="0"/></a:p></p:txBody></p:sp><p:sp><p:nvSpPr><p:cNvPr id="5" name="Text 3"></p:cNvPr><p:cNvSpPr/><p:nvPr></p:nvPr></p:nvSpPr><p:spPr><a:xfrm><a:off x="731520" y="822960"/><a:ext cx="6858000" cy="36576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400" b="1" spc="600" kern="0" dirty="0"><a:solidFill><a:srgbClr val="C9A227"/></a:solidFill><a:latin typeface="Microsoft YaHei" pitchFamily="34" charset="0"/><a:ea typeface="Microsoft YaHei" pitchFamily="34" charset="-122"/><a:cs typeface="Microsoft YaHei" pitchFamily="34" charset="-120"/></a:rPr><a:t>项目答辩</a:t></a:r><a:endParaRPr lang="en-US" sz="1400" dirty="0"/></a:p></p:txBody></p:sp><p:sp><p:nvSpPr><p:cNvPr id="6" name="Text 4"></p:cNvPr><p:cNvSpPr/><p:nvPr></p:nvPr></p:nvSpPr><p:spPr><a:xfrm><a:off x="731520" y="1325880"/><a:ext cx="7223760" cy="1737360"/></a:xfrm><a:prstGeom prst="rect"><a:avLst></a:avLst></a:prstGeom><a:noFill/><a:ln></a:ln></p:spPr><p:txBody><a:bodyPr wrap="square" lIns="0" tIns="0" rIns="0" bIns="0" rtlCol="0" anchor="ctr"></a:bodyPr><a:lstStyle/><a:p><a:pPr indent="0" marL="0"><a:lnSpc><a:spcPct val="115000"/></a:lnSpc><a:buNone/></a:pPr><a:r><a:rPr lang="en-US" sz="4000" b="1" dirty="0"><a:solidFill><a:srgbClr val="FFFFFF"/></a:solidFill><a:latin typeface="Microsoft YaHei" pitchFamily="34" charset="0"/><a:ea typeface="Microsoft YaHei" pitchFamily="34" charset="-122"/><a:cs typeface="Microsoft YaHei" pitchFamily="34" charset="-120"/></a:rPr><a:t>ERP 财务数据契约治理平台</a:t></a:r><a:endParaRPr lang="en-US" sz="4000" dirty="0"/></a:p></p:txBody></p:sp><p:sp><p:nvSpPr><p:cNvPr id="7" name="Text 5"></p:cNvPr><p:cNvSpPr/><p:nvPr></p:nvPr></p:nvSpPr><p:spPr><a:xfrm><a:off x="731520" y="3200400"/><a:ext cx="7223760" cy="45720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700" dirty="0"><a:solidFill><a:srgbClr val="CADCFC"/></a:solidFill><a:latin typeface="Microsoft YaHei" pitchFamily="34" charset="0"/><a:ea typeface="Microsoft YaHei" pitchFamily="34" charset="-122"/><a:cs typeface="Microsoft YaHei" pitchFamily="34" charset="-120"/></a:rPr><a:t>—— 给财务数据装一道自动化的「安检门」</a:t></a:r><a:endParaRPr lang="en-US" sz="1700" dirty="0"/></a:p></p:txBody></p:sp><p:sp><p:nvSpPr><p:cNvPr id="8" name="Text 6"></p:cNvPr><p:cNvSpPr/><p:nvPr></p:nvPr></p:nvSpPr><p:spPr><a:xfrm><a:off x="731520" y="4160520"/><a:ext cx="6949440" cy="1005840"/></a:xfrm><a:prstGeom prst="rect"><a:avLst></a:avLst></a:prstGeom><a:noFill/><a:ln></a:ln></p:spPr><p:txBody><a:bodyPr wrap="square" lIns="0" tIns="0" rIns="0" bIns="0" rtlCol="0" anchor="ctr"></a:bodyPr><a:lstStyle/><a:p><a:pPr indent="0" marL="0"><a:lnSpc><a:spcPct val="125000"/></a:lnSpc><a:spcAft><a:spcPts val="1000"/></a:spcAft><a:buNone/></a:pPr><a:r><a:rPr lang="en-US" sz="1300" dirty="0"><a:solidFill><a:srgbClr val="CADCFC"/></a:solidFill><a:latin typeface="Microsoft YaHei" pitchFamily="34" charset="0"/><a:ea typeface="Microsoft YaHei" pitchFamily="34" charset="-122"/><a:cs typeface="Microsoft YaHei" pitchFamily="34" charset="-120"/></a:rPr><a:t>从一次本地数据质检实验，到「调度 + 门禁 + 告警 + 治理 + LLM 辅助」的完整数据质量工程</a:t></a:r><a:endParaRPr lang="en-US" sz="1300" dirty="0"/></a:p><a:p><a:pPr indent="0" marL="0"><a:lnSpc><a:spcPct val="125000"/></a:lnSpc><a:buNone/></a:pPr><a:r><a:rPr lang="en-US" sz="1300" dirty="0"><a:solidFill><a:srgbClr val="9FB4EA"/></a:solidFill><a:latin typeface="Microsoft YaHei" pitchFamily="34" charset="0"/><a:ea typeface="Microsoft YaHei" pitchFamily="34" charset="-122"/><a:cs typeface="Microsoft YaHei" pitchFamily="34" charset="-120"/></a:rPr><a:t>覆盖 7 个迭代阶段 · 100 万行真实基准数据 · 72 项自动化内控检查</a:t></a:r><a:endParaRPr lang="en-US" sz="1300" dirty="0"/></a:p></p:txBody></p:sp><p:sp><p:nvSpPr><p:cNvPr id="9" name="Text 7"></p:cNvPr><p:cNvSpPr/><p:nvPr></p:nvPr></p:nvSpPr><p:spPr><a:xfrm><a:off x="731520" y="6126480"/><a:ext cx="10789920" cy="32004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150" dirty="0"><a:solidFill><a:srgbClr val="8EA0D8"/></a:solidFill><a:latin typeface="Microsoft YaHei" pitchFamily="34" charset="0"/><a:ea typeface="Microsoft YaHei" pitchFamily="34" charset="-122"/><a:cs typeface="Microsoft YaHei" pitchFamily="34" charset="-120"/></a:rPr><a:t>汇报人：<用户名>    |    技术栈：Data Contract · Kestra · Docker · PostgreSQL · Streamlit · LLM</a:t></a:r><a:endParaRPr lang="en-US" sz="1150" dirty="0"/></a:p></p:txBody></p:sp><p:sp> <p:nvSpPr>  <p:cNvPr id="25" name="Slide Number Placeholder 0"/><p:cNvSpPr><a:spLocks noGrp="1"/></p:cNvSpPr>  <p:nvPr><p:ph type="sldNum" sz="quarter" idx="4294967295"/></p:nvPr> </p:nvSpPr> <p:spPr><a:xfrm><a:off x="11292840" y="6446520"/><a:ext cx="548640" cy="274320"/></a:xfrm> <a:prstGeom prst="rect"><a:avLst/></a:prstGeom> <a:extLst><a:ext uri="{C572A759-6A51-4108-AA02-DFA0A04FC94B}"><ma14:wrappingTextBoxFlag val="0" xmlns:ma14="http://schemas.microsoft.com/office/mac/drawingml/2011/main"/></a:ext></a:extLst></p:spPr><p:txBody><a:bodyPr/>  <a:lstStyle><a:lvl1pPr><a:defRPr sz="900"><a:solidFill><a:srgbClr val="8EA0D8"/></a:solidFill><a:latin typeface="Microsoft YaHei"/><a:ea typeface="Microsoft YaHei"/><a:cs typeface="Microsoft YaHei"/></a:defRPr></a:lvl1pPr></a:lstStyle><a:p><a:pPr algn="l"/><a:fld id="{F7021451-1387-4CA6-816F-3879F97B5CBC}" type="slidenum"><a:rPr b="0" lang="en-US"/><a:t>1</a:t></a:fld><a:endParaRPr lang="en-US"/></a:p></p:txBody></p:sp></p:spTree></p:cSld><p:clrMapOvr><a:masterClrMapping/></p:clrMapOvr><p:transition spd="fast" advClick="1"><p:fade/></p:transition>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汇报框架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11296" cy="1426464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7647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8096" y="2167128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68096" y="253288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月结崩盘的痛点 · 数据契约与审计左移思想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34256" y="1600200"/>
            <a:ext cx="3511296" cy="1426464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53712" y="17647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53712" y="2167128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总体设计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53712" y="253288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七阶段演进路线 · 四层架构 · 技术选型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19872" y="1600200"/>
            <a:ext cx="3511296" cy="1426464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39328" y="17647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39328" y="2167128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基础篇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39328" y="253288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数据探索先行 · 首份契约 25→34 项检查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227832"/>
            <a:ext cx="3511296" cy="1426464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8096" y="339242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8096" y="379476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规则深化与看板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68096" y="416052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条反舞弊规则 · 55 项检查 · Streamlit 看板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34256" y="3227832"/>
            <a:ext cx="3511296" cy="1426464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53712" y="339242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53712" y="379476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生产化迁移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553712" y="416052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Docker+Kestra+PostgreSQL · 每日自动门禁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19872" y="3227832"/>
            <a:ext cx="3511296" cy="1426464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39328" y="339242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339328" y="379476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安全与告警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339328" y="416052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 密码管理 · 钉钉告警端到端验证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855464"/>
            <a:ext cx="3511296" cy="1426464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68096" y="50200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68096" y="5422392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业务系统与前台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768096" y="578815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表 1 视图 · 造数器 · ERP 前台 · 幂等与 RBAC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34256" y="4855464"/>
            <a:ext cx="3511296" cy="1426464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53712" y="50200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553712" y="5422392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治理与 LLM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4553712" y="578815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变更单治理 · Contract Copilot · 三层防御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119872" y="4855464"/>
            <a:ext cx="3511296" cy="1426464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339328" y="50200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339328" y="5422392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8339328" y="578815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难点创新 · 验证数字 · 收获与规划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为什么做 · 背景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一个财务人的噩梦：月结崩盘之夜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1371600"/>
          </a:xfrm>
          <a:prstGeom prst="roundRect">
            <a:avLst>
              <a:gd name="adj" fmla="val 4667"/>
            </a:avLst>
          </a:prstGeom>
          <a:solidFill>
            <a:srgbClr val="FBEAE7"/>
          </a:solidFill>
          <a:ln w="12700">
            <a:solidFill>
              <a:srgbClr val="E8C4B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700784"/>
            <a:ext cx="10655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月末关账前一晚，BI 报表突然崩了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8096" y="2121408"/>
            <a:ext cx="106555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某报表页金额显示 999999999；另一张表空值率从 0.5% 飙到 40%；一批交易币种变成乱码。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根因：上游 ERP 升级悄悄改了字段逻辑 / 第三方系统推送格式突变 / 业务员录入了异常金额——而脏数据已经进了数仓，生米煮成熟饭。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传统治理 = 事后补救死循环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639312"/>
            <a:ext cx="265176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3822192"/>
            <a:ext cx="365760" cy="365760"/>
          </a:xfrm>
          <a:prstGeom prst="ellipse">
            <a:avLst/>
          </a:prstGeom>
          <a:solidFill>
            <a:srgbClr val="B23B2E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381121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60" dirty="0"/>
          </a:p>
        </p:txBody>
      </p:sp>
      <p:sp>
        <p:nvSpPr>
          <p:cNvPr id="11" name="Text 9"/>
          <p:cNvSpPr/>
          <p:nvPr/>
        </p:nvSpPr>
        <p:spPr>
          <a:xfrm>
            <a:off x="1207008" y="3822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发现太晚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68096" y="4315968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问题在报表阶段才暴露，脏数据已污染数仓并被多方引用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83280" y="3639312"/>
            <a:ext cx="265176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84448" y="3822192"/>
            <a:ext cx="365760" cy="365760"/>
          </a:xfrm>
          <a:prstGeom prst="ellipse">
            <a:avLst/>
          </a:prstGeom>
          <a:solidFill>
            <a:srgbClr val="B23B2E"/>
          </a:solidFill>
          <a:ln/>
        </p:spPr>
      </p:sp>
      <p:sp>
        <p:nvSpPr>
          <p:cNvPr id="15" name="Text 13"/>
          <p:cNvSpPr/>
          <p:nvPr/>
        </p:nvSpPr>
        <p:spPr>
          <a:xfrm>
            <a:off x="3584448" y="381121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60" dirty="0"/>
          </a:p>
        </p:txBody>
      </p:sp>
      <p:sp>
        <p:nvSpPr>
          <p:cNvPr id="16" name="Text 14"/>
          <p:cNvSpPr/>
          <p:nvPr/>
        </p:nvSpPr>
        <p:spPr>
          <a:xfrm>
            <a:off x="4041648" y="3822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定位太难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602736" y="4315968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几百张表、几千条调度，排查链路极长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3639312"/>
            <a:ext cx="265176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19088" y="3822192"/>
            <a:ext cx="365760" cy="365760"/>
          </a:xfrm>
          <a:prstGeom prst="ellipse">
            <a:avLst/>
          </a:prstGeom>
          <a:solidFill>
            <a:srgbClr val="B23B2E"/>
          </a:solidFill>
          <a:ln/>
        </p:spPr>
      </p:sp>
      <p:sp>
        <p:nvSpPr>
          <p:cNvPr id="20" name="Text 18"/>
          <p:cNvSpPr/>
          <p:nvPr/>
        </p:nvSpPr>
        <p:spPr>
          <a:xfrm>
            <a:off x="6419088" y="381121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60" dirty="0"/>
          </a:p>
        </p:txBody>
      </p:sp>
      <p:sp>
        <p:nvSpPr>
          <p:cNvPr id="21" name="Text 19"/>
          <p:cNvSpPr/>
          <p:nvPr/>
        </p:nvSpPr>
        <p:spPr>
          <a:xfrm>
            <a:off x="6876288" y="3822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责任不清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37376" y="4315968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上游、ETL、报表口径互相甩锅，说不清是谁的问题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52560" y="3639312"/>
            <a:ext cx="265176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53728" y="3822192"/>
            <a:ext cx="365760" cy="365760"/>
          </a:xfrm>
          <a:prstGeom prst="ellipse">
            <a:avLst/>
          </a:prstGeom>
          <a:solidFill>
            <a:srgbClr val="B23B2E"/>
          </a:solidFill>
          <a:ln/>
        </p:spPr>
      </p:sp>
      <p:sp>
        <p:nvSpPr>
          <p:cNvPr id="25" name="Text 23"/>
          <p:cNvSpPr/>
          <p:nvPr/>
        </p:nvSpPr>
        <p:spPr>
          <a:xfrm>
            <a:off x="9253728" y="381121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60" dirty="0"/>
          </a:p>
        </p:txBody>
      </p:sp>
      <p:sp>
        <p:nvSpPr>
          <p:cNvPr id="26" name="Text 24"/>
          <p:cNvSpPr/>
          <p:nvPr/>
        </p:nvSpPr>
        <p:spPr>
          <a:xfrm>
            <a:off x="9710928" y="3822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修复靠人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272016" y="4315968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临时脚本打补丁，没有机制沉淀，下次换个姿势再犯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23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死循环：数据进数仓 → 报表异常 → 财务反馈 → 排查 → 写修复脚本 → 回刷 → 向业务解释 → 下次再犯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为什么做 · 解题思路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数据契约：给数据立一份「法律合同」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1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Contract = 数据生产者与消费者之间的正式约定，声明式、机器可执行、可审计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3017520"/>
          </a:xfrm>
          <a:prstGeom prst="roundRect">
            <a:avLst>
              <a:gd name="adj" fmla="val 2121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92938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它约定「数据应该长什么样」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68096" y="2350008"/>
            <a:ext cx="49560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字段有哪些、什么类型（Schema）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哪些必填、哪些唯一（完整性约束）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取值必须落在什么范围（质量规则）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全部写在一份 YAML 文件里，业务人员也能读懂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45352" y="1783080"/>
            <a:ext cx="5394960" cy="3017520"/>
          </a:xfrm>
          <a:prstGeom prst="roundRect">
            <a:avLst>
              <a:gd name="adj" fmla="val 2121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64808" y="192938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它是一道「自动化安检门」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64808" y="2350008"/>
            <a:ext cx="49560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数据进数仓前，引擎逐行扫描全部数据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违约即熔断 + 告警，脏数据止步于门口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规则归业务所有：财务改一行 YAML 即可，不用等程序员发版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纳入 Git 版本控制，每次改动可回滚、可留痕——满足内控审计硬性要求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一句话定位：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不是又写了一个清洗脚本，而是把「数据质量标准」从程序员的脑子里、从口口相传的口径里，变成一份正式、可执行、可审计的契约文件。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为什么做 · 设计取舍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为什么不直接写个 Python 清洗脚本？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脚本解决「功能」，契约解决「治理」—— 三个本质差别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377440" cy="1188720"/>
          </a:xfrm>
          <a:prstGeom prst="roundRect">
            <a:avLst>
              <a:gd name="adj" fmla="val 5385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31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规则所有权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108960" y="2011680"/>
            <a:ext cx="4206240" cy="1188720"/>
          </a:xfrm>
          <a:prstGeom prst="roundRect">
            <a:avLst>
              <a:gd name="adj" fmla="val 5385"/>
            </a:avLst>
          </a:prstGeom>
          <a:solidFill>
            <a:srgbClr val="FBEAE7"/>
          </a:solidFill>
          <a:ln w="12700">
            <a:solidFill>
              <a:srgbClr val="E8C4B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28416" y="2194560"/>
            <a:ext cx="3767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脚本：规则埋在代码里，改规则 = 找程序员改代码、走发版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52360" y="2011680"/>
            <a:ext cx="4187952" cy="1188720"/>
          </a:xfrm>
          <a:prstGeom prst="roundRect">
            <a:avLst>
              <a:gd name="adj" fmla="val 5385"/>
            </a:avLst>
          </a:prstGeom>
          <a:solidFill>
            <a:srgbClr val="E6F4EC"/>
          </a:solidFill>
          <a:ln w="12700">
            <a:solidFill>
              <a:srgbClr val="BFE0C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671816" y="219456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契约：规则是声明式 YAML，业务人员改一行即生效，规则归业务所有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2377440" cy="1188720"/>
          </a:xfrm>
          <a:prstGeom prst="roundRect">
            <a:avLst>
              <a:gd name="adj" fmla="val 5385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703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可读性与解耦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108960" y="3383280"/>
            <a:ext cx="4206240" cy="1188720"/>
          </a:xfrm>
          <a:prstGeom prst="roundRect">
            <a:avLst>
              <a:gd name="adj" fmla="val 5385"/>
            </a:avLst>
          </a:prstGeom>
          <a:solidFill>
            <a:srgbClr val="FBEAE7"/>
          </a:solidFill>
          <a:ln w="12700">
            <a:solidFill>
              <a:srgbClr val="E8C4B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28416" y="3566160"/>
            <a:ext cx="3767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脚本：非技术人员无法读懂，口径随人员流动失传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52360" y="3383280"/>
            <a:ext cx="4187952" cy="1188720"/>
          </a:xfrm>
          <a:prstGeom prst="roundRect">
            <a:avLst>
              <a:gd name="adj" fmla="val 5385"/>
            </a:avLst>
          </a:prstGeom>
          <a:solidFill>
            <a:srgbClr val="E6F4EC"/>
          </a:solidFill>
          <a:ln w="12700">
            <a:solidFill>
              <a:srgbClr val="BFE0C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671816" y="356616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契约：validValues: [1,2,3,4] 这样的写法，财务主管一眼看懂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2377440" cy="1188720"/>
          </a:xfrm>
          <a:prstGeom prst="roundRect">
            <a:avLst>
              <a:gd name="adj" fmla="val 5385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074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可审计留痕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108960" y="4754880"/>
            <a:ext cx="4206240" cy="1188720"/>
          </a:xfrm>
          <a:prstGeom prst="roundRect">
            <a:avLst>
              <a:gd name="adj" fmla="val 5385"/>
            </a:avLst>
          </a:prstGeom>
          <a:solidFill>
            <a:srgbClr val="FBEAE7"/>
          </a:solidFill>
          <a:ln w="12700">
            <a:solidFill>
              <a:srgbClr val="E8C4B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28416" y="4937760"/>
            <a:ext cx="3767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脚本：散落在各人电脑，谁改的、为什么改无从追溯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452360" y="4754880"/>
            <a:ext cx="4187952" cy="1188720"/>
          </a:xfrm>
          <a:prstGeom prst="roundRect">
            <a:avLst>
              <a:gd name="adj" fmla="val 5385"/>
            </a:avLst>
          </a:prstGeom>
          <a:solidFill>
            <a:srgbClr val="E6F4EC"/>
          </a:solidFill>
          <a:ln w="12700">
            <a:solidFill>
              <a:srgbClr val="BFE0C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71816" y="493776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契约：纳入 Git，每次变更可回滚、可追责，天然满足内控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2636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 = 脚本路线的痛点    绿 = 契约路线的答案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为什么做 · 核心思想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Shift-Left：把审计「左移」到数据源头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487168" cy="1371600"/>
          </a:xfrm>
          <a:prstGeom prst="roundRect">
            <a:avLst>
              <a:gd name="adj" fmla="val 4667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84832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数据产生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交易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90672" y="2450592"/>
            <a:ext cx="329184" cy="310896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3456432" y="1920240"/>
            <a:ext cx="2487168" cy="1371600"/>
          </a:xfrm>
          <a:prstGeom prst="roundRect">
            <a:avLst>
              <a:gd name="adj" fmla="val 4667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93592" y="2084832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数据接入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落地存储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98464" y="2450592"/>
            <a:ext cx="329184" cy="310896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0" name="Shape 8"/>
          <p:cNvSpPr/>
          <p:nvPr/>
        </p:nvSpPr>
        <p:spPr>
          <a:xfrm>
            <a:off x="6364224" y="1920240"/>
            <a:ext cx="2487168" cy="1371600"/>
          </a:xfrm>
          <a:prstGeom prst="roundRect">
            <a:avLst>
              <a:gd name="adj" fmla="val 4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01384" y="2084832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契约门禁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自动质检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06256" y="2450592"/>
            <a:ext cx="329184" cy="310896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3" name="Shape 11"/>
          <p:cNvSpPr/>
          <p:nvPr/>
        </p:nvSpPr>
        <p:spPr>
          <a:xfrm>
            <a:off x="9272016" y="1920240"/>
            <a:ext cx="2487168" cy="1371600"/>
          </a:xfrm>
          <a:prstGeom prst="roundRect">
            <a:avLst>
              <a:gd name="adj" fmla="val 4667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09176" y="2084832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数仓/报表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下游消费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611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传统审计在「报表阶段」介入（链条最右端），缺陷成本最高；本项目把质检门设在数据进数仓之前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FBEAE7"/>
          </a:solidFill>
          <a:ln w="12700">
            <a:solidFill>
              <a:srgbClr val="E8C4B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8096" y="430682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23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右移的代价（传统模式）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68096" y="4727448"/>
            <a:ext cx="4956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脏数据进数仓后被 N 个下游引用，污染面扩散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 = 排查链路 + 回刷数据 + 向业务解释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同样的问题反复发生，无机制沉淀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5352" y="416052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E6F4EC"/>
          </a:solidFill>
          <a:ln w="12700">
            <a:solidFill>
              <a:srgbClr val="BFE0C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64808" y="430682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左移的收益（本项目）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64808" y="4727448"/>
            <a:ext cx="4956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脏数据在门口被拦截、熔断、告警，进不了数仓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规则前置沉淀为契约，每次 ETL 例行执行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源头拦截缺陷的成本，远低于成品返工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为什么做 · 数据基础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验证数据：100 万行 × 49 列的真实 ERP 基准数据集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100万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3682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数据行数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（全量校验，非抽样）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383280" y="178308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49列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383280" y="23682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字段宽度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覆盖交易/审批/风控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0" y="178308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4种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0" y="23682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系统混用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NetSuite/Oracle/D365/QB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503920" y="178308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603.6MB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503920" y="236829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内存占用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Parquet 落地约 600MB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291840"/>
            <a:ext cx="1109441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  </a:t>
            </a:r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Kaggle「Universal ERP Accounting Risk Dataset」，通用企业 ERP 会计风险数据集，dataset_version 为 Universal_ERP_Fraud_Benchmark_1.0——本身就是一份反舞弊基准数据集</a:t>
            </a:r>
            <a:endParaRPr lang="en-US" sz="135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字段覆盖  </a:t>
            </a:r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交易身份（transaction_id）、业务事实（金额/币种/科目/过账时间）、组织维度（部门/成本中心/员工/供应商）、12 个审计风险标志位</a:t>
            </a:r>
            <a:endParaRPr lang="en-US" sz="135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为什么选它  </a:t>
            </a:r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字段语义与真实财务场景一一对应（手工凭证、非工作时间过账、职责未分离……），让契约规则的设计有据可依，也让验证结果有说服力</a:t>
            </a:r>
            <a:endParaRPr lang="en-US" sz="135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真实性边界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这是基准数据集，本身较「干净」；为验证门禁真能拦脏数据，后续阶段专门设计了异常注入实验来反向验证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总体设计 · 演进路线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七阶段演进：从一次手动检查到数据质量工程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700784" cy="960120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933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基础篇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76072" y="290779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首份契约落地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25→34 项检查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57984" y="1828800"/>
            <a:ext cx="1700784" cy="960120"/>
          </a:xfrm>
          <a:prstGeom prst="chevron">
            <a:avLst/>
          </a:prstGeom>
          <a:solidFill>
            <a:srgbClr val="2B3A7A"/>
          </a:solidFill>
          <a:ln/>
        </p:spPr>
      </p:sp>
      <p:sp>
        <p:nvSpPr>
          <p:cNvPr id="9" name="Text 7"/>
          <p:cNvSpPr/>
          <p:nvPr/>
        </p:nvSpPr>
        <p:spPr>
          <a:xfrm>
            <a:off x="2157984" y="19933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57984" y="22860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规则+看板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185416" y="290779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条反舞弊规则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 项 + Streamlit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67328" y="1828800"/>
            <a:ext cx="1700784" cy="960120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767328" y="19933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67328" y="22860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生产化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794760" y="290779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Docker+Kestra+PG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 6 点自动门禁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76672" y="1828800"/>
            <a:ext cx="1700784" cy="960120"/>
          </a:xfrm>
          <a:prstGeom prst="chevron">
            <a:avLst/>
          </a:prstGeom>
          <a:solidFill>
            <a:srgbClr val="2B3A7A"/>
          </a:solidFill>
          <a:ln/>
        </p:spPr>
      </p:sp>
      <p:sp>
        <p:nvSpPr>
          <p:cNvPr id="17" name="Text 15"/>
          <p:cNvSpPr/>
          <p:nvPr/>
        </p:nvSpPr>
        <p:spPr>
          <a:xfrm>
            <a:off x="5376672" y="19933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76672" y="22860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安全告警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04104" y="290779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 管理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钉钉告警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86016" y="1828800"/>
            <a:ext cx="1700784" cy="960120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986016" y="19933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86016" y="22860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业务系统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013448" y="290779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表 1 视图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造数 10,022 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595360" y="1828800"/>
            <a:ext cx="1700784" cy="960120"/>
          </a:xfrm>
          <a:prstGeom prst="chevron">
            <a:avLst/>
          </a:prstGeom>
          <a:solidFill>
            <a:srgbClr val="2B3A7A"/>
          </a:solidFill>
          <a:ln/>
        </p:spPr>
      </p:sp>
      <p:sp>
        <p:nvSpPr>
          <p:cNvPr id="25" name="Text 23"/>
          <p:cNvSpPr/>
          <p:nvPr/>
        </p:nvSpPr>
        <p:spPr>
          <a:xfrm>
            <a:off x="8595360" y="19933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595360" y="22860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业务前台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622792" y="290779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申请→审批→记账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 + RBAC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204704" y="1828800"/>
            <a:ext cx="1700784" cy="960120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10204704" y="19933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204704" y="22860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治理+LLM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232136" y="290779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变更单治理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三层防御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3977640"/>
            <a:ext cx="11094415" cy="960120"/>
          </a:xfrm>
          <a:prstGeom prst="roundRect">
            <a:avLst>
              <a:gd name="adj" fmla="val 6667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68096" y="4114800"/>
            <a:ext cx="1065550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22960" y="416052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检查项数演进：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25（8 字段结构检查）→ 34（11 字段）→ 55（18 字段，+7 条反舞弊规则）→ 63（+长度与 SQL 规则）→ 72（全部 12 条 SQL 业务规则）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48640" y="51663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主线逻辑 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先证明「规则有用」（阶段 1-2）→ 再让规则「自动跑起来」（阶段 3-4）→ 再解决「数据从哪来」（阶段 5-6）→ 最后解决「契约本身谁来管」（阶段 7）</a:t>
            </a:r>
            <a:endParaRPr lang="en-US" sz="125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演进驱动力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每个阶段的缺口都是在上一阶段的验证中真实暴露的，不是预先设计的宏大蓝图——这是典型的 MVP 迭代式工程方法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总体设计 · 系统架构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四层架构：业务侧 → 数据侧 → 契约运行时 → 治理层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371600" y="1691640"/>
            <a:ext cx="9418320" cy="932688"/>
          </a:xfrm>
          <a:prstGeom prst="roundRect">
            <a:avLst>
              <a:gd name="adj" fmla="val 6863"/>
            </a:avLst>
          </a:prstGeom>
          <a:solidFill>
            <a:srgbClr val="46569C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180136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治理层 Governance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54880" y="1801368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契约变更单（CCR）· 独立审批 · Git 留痕 · 影响评估 · 版本回退 · LLM Copilot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852160" y="25877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0" y="2770632"/>
            <a:ext cx="9418320" cy="932688"/>
          </a:xfrm>
          <a:prstGeom prst="roundRect">
            <a:avLst>
              <a:gd name="adj" fmla="val 6863"/>
            </a:avLst>
          </a:prstGeom>
          <a:solidFill>
            <a:srgbClr val="2B3A7A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288036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契约运行时 Contract / Runtime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54880" y="2880360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financial_data_contract.yaml（72 项检查）· datacontract-cli · Kestra 每日 06:00 调度 · 钉钉告警 · Pytest 回归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52160" y="366674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0" y="3849624"/>
            <a:ext cx="9418320" cy="932688"/>
          </a:xfrm>
          <a:prstGeom prst="roundRect">
            <a:avLst>
              <a:gd name="adj" fmla="val 6863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1600200" y="395935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数据侧 PostgreSQL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54880" y="395935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业务库 erp_demo：employees / projects / approval_policies / business_requests / approval_records / journal_entries + 视图 erp_transactions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52160" y="47457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71600" y="4928616"/>
            <a:ext cx="9418320" cy="932688"/>
          </a:xfrm>
          <a:prstGeom prst="roundRect">
            <a:avLst>
              <a:gd name="adj" fmla="val 6863"/>
            </a:avLst>
          </a:prstGeom>
          <a:solidFill>
            <a:srgbClr val="152051"/>
          </a:solidFill>
          <a:ln/>
        </p:spPr>
      </p:sp>
      <p:sp>
        <p:nvSpPr>
          <p:cNvPr id="17" name="Text 15"/>
          <p:cNvSpPr/>
          <p:nvPr/>
        </p:nvSpPr>
        <p:spPr>
          <a:xfrm>
            <a:off x="1600200" y="5038344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业务侧 ERP 前台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754880" y="5038344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Streamlit 前台：登录 · 新建申请 · 我的审批 · 自动记账（申请→审批→分录的真实业务动作产生数据）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6172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91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数据自下而上流动：业务动作产生数据 → 视图适配契约接口 → 定时校验与告警 → 治理层管理契约本身的变化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总体设计 · 运行机制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两条独立链路，仅在 JSON 报告处交汇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880360"/>
          </a:xfrm>
          <a:prstGeom prst="roundRect">
            <a:avLst>
              <a:gd name="adj" fmla="val 2222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8836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链路一：自动化校验链（无人值守）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68096" y="2304288"/>
            <a:ext cx="495604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Compose 拉起 Kestra + PostgreSQL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cron 每天 06:00 触发 Flow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 python:3.12 任务容器现装 datacontract-cli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 PostgreSQL 执行 72 项检查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结果写 JSON 报告 / 失败走 errors 块发钉钉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restart: unless-stopped 保证重启自愈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45352" y="1737360"/>
            <a:ext cx="5394960" cy="2880360"/>
          </a:xfrm>
          <a:prstGeom prst="roundRect">
            <a:avLst>
              <a:gd name="adj" fmla="val 2222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64808" y="18836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链路二：人肉查看链（业务自助）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64808" y="2304288"/>
            <a:ext cx="495604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cp 把 JSON 报告拷回项目目录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Streamlit 看板 app.py 读取 JSON 渲染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指标卡 + 通过/失败图 + 逐条明细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业务人员浏览器打开 localhost:8501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绿色成功条 = 当次合规证明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5029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设计要点：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两条链路解耦——看板挂了不影响门禁照常执行，门禁的 JSON 产物是双方唯一的「契约」；这也是工程上典型的「生产者-消费者解耦」。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总体设计 · 技术选型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技术选型总览：每个组件都有明确的入选理由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834640"/>
                <a:gridCol w="1828800"/>
                <a:gridCol w="487375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版本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入选理由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契约引擎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datacontract-cli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1.2.0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围绕数据契约标准构建，YAML 原生，底层 Pydantic 严格校验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调度编排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Kestra（Docker 部署）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latest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开源、YAML 声明式 Flow、自带 Web UI，比 Airflow 上手轻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PostgreSQL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生产级、容器间网络可达、替代文件搬运的结构性方案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容器底座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Docker Desktop + WSL2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WSL 2.7.14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Windows 上跑 Linux 容器的标准路径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看板/前台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Streamlit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1.64.0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纯 Python 快速交付数据网页，无需前端基础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数据读写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psycopg2 / pandas / pyarrow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2.9.13 / 3.0.5 / 25.0.1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PG 驱动免编译 binary 版；Parquet 读取引擎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Pytest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9.1.1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数据库连接、数据量、字段、风险、契约全链路回归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DeepSeek（网页对话版）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20261002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Prompt 工程 + 确定性闸门路线，证据可固化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总体设计 · 数据血缘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一条字段的旅程：从业务动作到契约检查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29968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2048256"/>
            <a:ext cx="1810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员工在前台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勾选「含凭证」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615184" y="2377440"/>
            <a:ext cx="201168" cy="310896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2834640" y="1920240"/>
            <a:ext cx="2029968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44368" y="2048256"/>
            <a:ext cx="1810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business_requests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support_document_flag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01184" y="2377440"/>
            <a:ext cx="201168" cy="310896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0" name="Shape 8"/>
          <p:cNvSpPr/>
          <p:nvPr/>
        </p:nvSpPr>
        <p:spPr>
          <a:xfrm>
            <a:off x="5120640" y="1920240"/>
            <a:ext cx="2029968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30368" y="2048256"/>
            <a:ext cx="1810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journal_entries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supporting_document_flag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87184" y="2377440"/>
            <a:ext cx="201168" cy="310896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3" name="Shape 11"/>
          <p:cNvSpPr/>
          <p:nvPr/>
        </p:nvSpPr>
        <p:spPr>
          <a:xfrm>
            <a:off x="7406640" y="1920240"/>
            <a:ext cx="2029968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16368" y="2048256"/>
            <a:ext cx="1810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视图 erp_transactions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missing_support_flag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473184" y="2377440"/>
            <a:ext cx="201168" cy="310896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6" name="Shape 14"/>
          <p:cNvSpPr/>
          <p:nvPr/>
        </p:nvSpPr>
        <p:spPr>
          <a:xfrm>
            <a:off x="9692640" y="1920240"/>
            <a:ext cx="2029968" cy="1234440"/>
          </a:xfrm>
          <a:prstGeom prst="roundRect">
            <a:avLst>
              <a:gd name="adj" fmla="val 518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802368" y="2048256"/>
            <a:ext cx="1810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契约红线规则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SELECT 违规 = 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6576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反向映射  </a:t>
            </a:r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missing_support_flag = NOT support_document_flag——业务语言「有没有凭证」映射为审计语言「是否缺凭证」，映射逻辑是确定性代码，不靠人工</a:t>
            </a:r>
            <a:endParaRPr lang="en-US" sz="130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全程可追溯  </a:t>
            </a:r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个契约字段每一个都能回答「来自哪张表、哪个用户操作、哪条派生逻辑」——这是阶段 6 完成的「18 字段来源审计」</a:t>
            </a:r>
            <a:endParaRPr lang="en-US" sz="130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单据级反查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从任一交易号（如 TXN-REQ003）可反查 申请 REQ003 → 审批 APR003 → 命中规则 POL002 → 申请人/审批人/项目，形成完整血缘闭环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基础篇：先探索，后立约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100 万行真实数据验证「数据契约」这个思想 —— 从 25 项结构检查到 34 项含业务规则的检查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100万行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全量校验数据量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34项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47472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首版契约检查数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9个坑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21792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环境到语义的完整排错链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1.42秒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96112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百万行校验耗时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A0D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基础篇 · 数据探索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三大数据洞察：规则必须长在证据上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02736" cy="3291840"/>
          </a:xfrm>
          <a:prstGeom prst="roundRect">
            <a:avLst>
              <a:gd name="adj" fmla="val 1944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19656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174650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洞察一：缺失三梯队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68096" y="2167128"/>
            <a:ext cx="316382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强依赖字段：39 个字段 100 万行全非空 → 可放心 required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业务性缺失：invoice_id / approver_id 各缺约 400 条（0.04%）→ 正常设计，不写 required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极端稀疏：供应商银行变更域 8 字段空值率 99.97%+ → 绝不写 required，否则全量熔断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602736" cy="3291840"/>
          </a:xfrm>
          <a:prstGeom prst="roundRect">
            <a:avLst>
              <a:gd name="adj" fmla="val 1944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98848" y="1819656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4864608" y="174650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洞察二：金额分布定防呆线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17136" y="2167128"/>
            <a:ext cx="316382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 = -189,595.3（存在负金额红冲）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 ≈ 271.5 万，均值 ≈ 11,106，中位数 ≈ 6,014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防呆线设为 500 万：正常业务最大值 271 万永远碰不到，只有系统错误/录入异常才会触发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602736" cy="3291840"/>
          </a:xfrm>
          <a:prstGeom prst="roundRect">
            <a:avLst>
              <a:gd name="adj" fmla="val 1944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47888" y="1819656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8613648" y="174650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洞察三：12 个审计基因标志位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66176" y="2167128"/>
            <a:ext cx="316382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数据集自带 12 个 0/1 风险标志：手工凭证、非工作时间过账、周末过账、整额、大额、职责未分离、缺凭证、降级审批、临近阈值拆分、夜间手工……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它们就是反舞弊规则的现成落点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257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方法论：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每一条契约规则都能追溯到 df.info() / df.describe() 的具体某一行证据——「证据在哪一行」是规则设计的出发点，而不是拍脑袋。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基础篇 · 契约构建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首版契约：三层架构 + 8 个核心字段 + 25 项检查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603504"/>
          </a:xfrm>
          <a:prstGeom prst="roundRect">
            <a:avLst>
              <a:gd name="adj" fmla="val 1060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65960" y="17373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financial_data_contract.yaml —— 写「应该什么样」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359152"/>
            <a:ext cx="5394960" cy="603504"/>
          </a:xfrm>
          <a:prstGeom prst="roundRect">
            <a:avLst>
              <a:gd name="adj" fmla="val 10606"/>
            </a:avLst>
          </a:prstGeom>
          <a:solidFill>
            <a:srgbClr val="2B3A7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5059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245059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datacontract-cli 1.2.0 —— 读契约、执行检查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072384"/>
            <a:ext cx="5394960" cy="603504"/>
          </a:xfrm>
          <a:prstGeom prst="roundRect">
            <a:avLst>
              <a:gd name="adj" fmla="val 10606"/>
            </a:avLst>
          </a:prstGeom>
          <a:solidFill>
            <a:srgbClr val="3A4A8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16382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316382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Parquet 文件（100 万行 × 49 列）—— 被检查对象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09360" y="1645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初版 8 个核心字段 = 身份 + 业务事实 + 合规风险点</a:t>
            </a:r>
            <a:endParaRPr lang="en-US" sz="13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011680"/>
          <a:ext cx="53492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55448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transaction_id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必填 + 唯一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交易主键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erp_system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必填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 ERP 系统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posting_datetime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必填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过账时间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amount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必填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currency / gl_account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必填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币种 / 总账科目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manual_entry_flag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必填 + 限 0/1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手工凭证标志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risk_class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必填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风险分级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48640" y="3977640"/>
            <a:ext cx="5394960" cy="2103120"/>
          </a:xfrm>
          <a:prstGeom prst="roundRect">
            <a:avLst>
              <a:gd name="adj" fmla="val 3043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68096" y="412394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项检查怎么数出来的？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768096" y="4544568"/>
            <a:ext cx="4956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检查项总数 = 字段数 × 3（存在/类型/非空）+ 唯一性检查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= 8 × 3 + 1（transaction_id 唯一）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这个可验证口径贯穿全程：后续每次加规则都能用数字核对「规则真的生效了」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309360" y="5486400"/>
            <a:ext cx="5349240" cy="621792"/>
          </a:xfrm>
          <a:prstGeom prst="roundRect">
            <a:avLst>
              <a:gd name="adj" fmla="val 10294"/>
            </a:avLst>
          </a:prstGeom>
          <a:solidFill>
            <a:srgbClr val="E6F4EC"/>
          </a:solidFill>
          <a:ln w="12700">
            <a:solidFill>
              <a:srgbClr val="BFE0C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528816" y="5614416"/>
            <a:ext cx="4910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🟢 data contract is valid. Run 25 checks. Took 6.46 seconds.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基础篇 · 契约构建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契约文件长什么样：业务人员也能读懂的 YAML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852160" cy="4297680"/>
          </a:xfrm>
          <a:prstGeom prst="roundRect">
            <a:avLst>
              <a:gd name="adj" fmla="val 1489"/>
            </a:avLst>
          </a:prstGeom>
          <a:solidFill>
            <a:srgbClr val="F7F9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erp_transactions:        # 表：ERP交易记录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fields: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transaction_id:      # 字段名（6 空格缩进）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type: string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required: true     # 必填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unique: true       # 唯一（主键）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approval_level:      # 审批层级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type: integer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required: true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quality: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 type: library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metric: invalidValues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arguments: { values: [1, 2, 3, 4] }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75120" y="1600200"/>
            <a:ext cx="49834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声明式，不是代码  </a:t>
            </a:r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12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 if/for，只有「字段-约束」的事实陈述——财务主管看完能直接提出修改意见</a:t>
            </a:r>
            <a:endParaRPr lang="en-US" sz="125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缩进即语法  </a:t>
            </a:r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12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YAML 层级完全由空格数决定：字段名 6 空格、属性 8 空格、quality 规则项 10 空格——这既是它的简洁，也是它的陷阱（下一页细讲）</a:t>
            </a:r>
            <a:endParaRPr lang="en-US" sz="125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规则两类  </a:t>
            </a:r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12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字段级约束（required/unique/type）由引擎自动展开为检查项；quality 下的 library 规则用预定义 metric（invalidValues 查枚举、nullValues 查空值、duplicateValues 查重复）</a:t>
            </a:r>
            <a:endParaRPr lang="en-US" sz="125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头信息即标准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文件头声明 dataContractSpecification: 0.9.3——契约遵循开放标准，理论上可跨平台复用，不被单一工具锁定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基础篇 · 排错实录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环境四连坑：每一个都踩在 Windows 用户的真实痛点上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834640" cy="1024128"/>
          </a:xfrm>
          <a:prstGeom prst="roundRect">
            <a:avLst>
              <a:gd name="adj" fmla="val 6250"/>
            </a:avLst>
          </a:prstGeom>
          <a:solidFill>
            <a:srgbClr val="FBEAE7"/>
          </a:solidFill>
          <a:ln w="12700">
            <a:solidFill>
              <a:srgbClr val="E8C4B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7099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坑1：uv 装不上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13232" y="205740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23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pip install uv 报 No matching distribution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520440" y="1600200"/>
            <a:ext cx="4663440" cy="1024128"/>
          </a:xfrm>
          <a:prstGeom prst="roundRect">
            <a:avLst>
              <a:gd name="adj" fmla="val 6250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39896" y="1709928"/>
            <a:ext cx="4224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根因：本机 Python 3.7.3 不满足 Requires-Python ≥3.8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321040" y="1600200"/>
            <a:ext cx="3337560" cy="1024128"/>
          </a:xfrm>
          <a:prstGeom prst="roundRect">
            <a:avLst>
              <a:gd name="adj" fmla="val 6250"/>
            </a:avLst>
          </a:prstGeom>
          <a:solidFill>
            <a:srgbClr val="E6F4EC"/>
          </a:solidFill>
          <a:ln w="12700">
            <a:solidFill>
              <a:srgbClr val="BFE0C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540496" y="1709928"/>
            <a:ext cx="28986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解法：升级 Python 3.12（勾选 Add to PATH）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770632"/>
            <a:ext cx="2834640" cy="1024128"/>
          </a:xfrm>
          <a:prstGeom prst="roundRect">
            <a:avLst>
              <a:gd name="adj" fmla="val 6250"/>
            </a:avLst>
          </a:prstGeom>
          <a:solidFill>
            <a:srgbClr val="FBEAE7"/>
          </a:solidFill>
          <a:ln w="12700">
            <a:solidFill>
              <a:srgbClr val="E8C4B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3232" y="28803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坑2：venv 版本残留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3232" y="3227832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23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升级后项目仍跑在 3.7 上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20440" y="2770632"/>
            <a:ext cx="4663440" cy="1024128"/>
          </a:xfrm>
          <a:prstGeom prst="roundRect">
            <a:avLst>
              <a:gd name="adj" fmla="val 6250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39896" y="2880360"/>
            <a:ext cx="4224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根因：旧 venv 绑定 Anaconda 3.7.3——venv 本质是「指向某个解释器的文件夹」，不随系统升级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21040" y="2770632"/>
            <a:ext cx="3337560" cy="1024128"/>
          </a:xfrm>
          <a:prstGeom prst="roundRect">
            <a:avLst>
              <a:gd name="adj" fmla="val 6250"/>
            </a:avLst>
          </a:prstGeom>
          <a:solidFill>
            <a:srgbClr val="E6F4EC"/>
          </a:solidFill>
          <a:ln w="12700">
            <a:solidFill>
              <a:srgbClr val="BFE0C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40496" y="2880360"/>
            <a:ext cx="28986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解法：deactivate → 删 venv → 用 3.12 重建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941064"/>
            <a:ext cx="2834640" cy="1024128"/>
          </a:xfrm>
          <a:prstGeom prst="roundRect">
            <a:avLst>
              <a:gd name="adj" fmla="val 6250"/>
            </a:avLst>
          </a:prstGeom>
          <a:solidFill>
            <a:srgbClr val="FBEAE7"/>
          </a:solidFill>
          <a:ln w="12700">
            <a:solidFill>
              <a:srgbClr val="E8C4B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3232" y="40507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坑3：命令找不到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13232" y="4398264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23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datacontract 报 CommandNotFound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520440" y="3941064"/>
            <a:ext cx="4663440" cy="1024128"/>
          </a:xfrm>
          <a:prstGeom prst="roundRect">
            <a:avLst>
              <a:gd name="adj" fmla="val 6250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739896" y="4050792"/>
            <a:ext cx="4224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根因：uv 把可执行文件装在 ~/.local/bin，不在 PATH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321040" y="3941064"/>
            <a:ext cx="3337560" cy="1024128"/>
          </a:xfrm>
          <a:prstGeom prst="roundRect">
            <a:avLst>
              <a:gd name="adj" fmla="val 6250"/>
            </a:avLst>
          </a:prstGeom>
          <a:solidFill>
            <a:srgbClr val="E6F4EC"/>
          </a:solidFill>
          <a:ln w="12700">
            <a:solidFill>
              <a:srgbClr val="BFE0C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540496" y="4050792"/>
            <a:ext cx="28986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解法：uv tool update-shell + 重启终端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5111496"/>
            <a:ext cx="2834640" cy="1024128"/>
          </a:xfrm>
          <a:prstGeom prst="roundRect">
            <a:avLst>
              <a:gd name="adj" fmla="val 6250"/>
            </a:avLst>
          </a:prstGeom>
          <a:solidFill>
            <a:srgbClr val="FBEAE7"/>
          </a:solidFill>
          <a:ln w="12700">
            <a:solidFill>
              <a:srgbClr val="E8C4B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3232" y="52212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坑4：依赖缺失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13232" y="556869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23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 Parquet 报错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520440" y="5111496"/>
            <a:ext cx="4663440" cy="1024128"/>
          </a:xfrm>
          <a:prstGeom prst="roundRect">
            <a:avLst>
              <a:gd name="adj" fmla="val 6250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739896" y="5221224"/>
            <a:ext cx="4224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根因：pandas/pyarrow 未装；且旧 Python 没有 cp312 轮子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321040" y="5111496"/>
            <a:ext cx="3337560" cy="1024128"/>
          </a:xfrm>
          <a:prstGeom prst="roundRect">
            <a:avLst>
              <a:gd name="adj" fmla="val 6250"/>
            </a:avLst>
          </a:prstGeom>
          <a:solidFill>
            <a:srgbClr val="E6F4EC"/>
          </a:solidFill>
          <a:ln w="12700">
            <a:solidFill>
              <a:srgbClr val="BFE0C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540496" y="5221224"/>
            <a:ext cx="28986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解法：venv 内 pip install pandas pyarrow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方法论：先找根因行，不修症状；「报错变了」就是进步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基础篇 · 排错实录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语义四连坑：从「能运行」到「跑得对」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441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坑5：GBK 编码崩溃  </a:t>
            </a:r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'gbk' codec can't decode byte 0xae——中文 Windows 默认用 GBK 读文件，而契约是 UTF-8 含中文注释。解法 $env:PYTHONUTF8=1（注意：会话级变量，新终端会「失忆」，后文还会复发）</a:t>
            </a:r>
            <a:endParaRPr lang="en-US" sz="130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坑6：Pydantic 语法错误  </a:t>
            </a:r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不能写成字符串，必须用规范的 Library 结构（type/metric/arguments/mustBe）——报错信息精确到了 models.erp_transactions.fields 的具体路径，按图索骥即可</a:t>
            </a:r>
            <a:endParaRPr lang="en-US" sz="130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坑7：路径错配（26 条错误只有 1 个根因）  </a:t>
            </a:r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契约里写的文件名和磁盘真实文件名不一致，导致 25 项检查全部连带失败——满屏 26 条错误，只有最后一条是根因。教训：先修根因，别被症状数量吓住</a:t>
            </a:r>
            <a:endParaRPr lang="en-US" sz="130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坑8：YAML 手滑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path: "path: " 重复粘贴导致解析失败——机器对格式零容忍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892040"/>
            <a:ext cx="11094415" cy="1234440"/>
          </a:xfrm>
          <a:prstGeom prst="roundRect">
            <a:avLst>
              <a:gd name="adj" fmla="val 5185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5038344"/>
            <a:ext cx="10655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排错方法论三条（本阶段最大沉淀）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68096" y="5458968"/>
            <a:ext cx="106555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先找根因行，不修症状——错误列表里只有一条是根，其余都是它的影子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②「报错变了」就是进步——新错误说明旧根因已除，不要害怕报错变化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报错定位信息是最精确的地图——Pydantic 把出错路径写到了字段级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基础篇 · 排错实录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9 坑（最危险）：缩进静默失效 —— 全绿 ≠ 规则生效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8C4B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 3 条业务规则后首跑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23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 25 checks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规则数没变！全绿是假象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51376" y="2377440"/>
            <a:ext cx="201168" cy="310896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9" name="Shape 7"/>
          <p:cNvSpPr/>
          <p:nvPr/>
        </p:nvSpPr>
        <p:spPr>
          <a:xfrm>
            <a:off x="4370832" y="1691640"/>
            <a:ext cx="356616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8C4B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53712" y="18288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修正后二跑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53712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23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 28 checks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53712" y="269748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 1 条生效，另 2 条「人间蒸发」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73568" y="2377440"/>
            <a:ext cx="201168" cy="310896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4" name="Shape 12"/>
          <p:cNvSpPr/>
          <p:nvPr/>
        </p:nvSpPr>
        <p:spPr>
          <a:xfrm>
            <a:off x="8193024" y="1691640"/>
            <a:ext cx="356616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BFE0C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75904" y="18288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缩进对齐 + 去重后三跑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75904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 34 checks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375904" y="269748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条全部生效 ✓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11094415" cy="1371600"/>
          </a:xfrm>
          <a:prstGeom prst="roundRect">
            <a:avLst>
              <a:gd name="adj" fmla="val 4667"/>
            </a:avLst>
          </a:prstGeom>
          <a:solidFill>
            <a:srgbClr val="FBEAE7"/>
          </a:solidFill>
          <a:ln w="12700">
            <a:solidFill>
              <a:srgbClr val="E8C4B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68096" y="3895344"/>
            <a:ext cx="10655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23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发生了什么？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68096" y="4315968"/>
            <a:ext cx="106555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is_round_amount / high_value_flag 两条规则多缩进了 2 个空格，被 YAML 解析成 approval_level 的子字段——语法完全合法，引擎照常全绿，但这两条规则从未被识别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「看不见的失败」比报错危险一万倍：你以为有门禁，其实门是开的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5440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防御武器就是上一页的计数公式：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预期 34 项 = 11 字段 × 3 + 1，实测 25 ≠ 预期 → 立刻暴露。语法合法 ≠ 语义正确，运行成功 ≠ 规则生效——盯数字，不盯颜色。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基础篇 · 阶段成果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基础篇收口：34 项全绿，百万行秒级校验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34/34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32257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检查全部通过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（11 字段×3+1）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474720" y="173736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1.42秒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474720" y="232257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万行全量校验耗时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（25 项时 6.46 秒）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126480" y="173736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126480" y="232257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全量校验替代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人工抽 1% 抽查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778240" y="173736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3条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778240" y="232257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业务规则注入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审批层级/标志位/金额防呆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性能反直觉  </a:t>
            </a:r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检查项从 25 增加到 34，耗时反而从 6.46 秒降到 1.42 秒（首次含引擎冷启动）——证明「百万行秒级校验」，可嵌入每次 ETL 作为例行门禁</a:t>
            </a:r>
            <a:endParaRPr lang="en-US" sz="130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三条业务规则全部有数据证据  </a:t>
            </a:r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approval_level 枚举 [1,2,3,4]、标志位限 0/1、金额 ABS ≤ 500 万（业务最大值 271 万，防呆线零误报）</a:t>
            </a:r>
            <a:endParaRPr lang="en-US" sz="130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三层价值初步兑现  </a:t>
            </a:r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技术价值：全量秒级校验；业务价值：三道内控防线；职业价值：懂业务、会工程、能排错的证据链</a:t>
            </a:r>
            <a:endParaRPr lang="en-US" sz="130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阶段局限（诚实声明）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仍是「手动敲命令 + 本地文件 + 通用规则」的 Demo——不够生产，这正是后续阶段的演进空间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规则深化与看板：拦得准，看得见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条反舞弊规则让契约从「体检」升级为「立法」 · Streamlit 看板打通数据治理最后一公里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+7条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反舞弊规则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55项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47472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检查总数（18字段×3+1）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21792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规则严格度分级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3.96秒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96112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 项校验耗时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A0D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规则深化与看板 · 阶段目标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两个缺口：通用体检防不了舞弊，终端输出业务看不懂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743200"/>
          </a:xfrm>
          <a:prstGeom prst="roundRect">
            <a:avLst>
              <a:gd name="adj" fmla="val 2333"/>
            </a:avLst>
          </a:prstGeom>
          <a:solidFill>
            <a:srgbClr val="FBEAE7"/>
          </a:solidFill>
          <a:ln w="12700">
            <a:solidFill>
              <a:srgbClr val="E8C4B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83794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23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缺口一：规则层——34 项全是「通用型体检」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68096" y="2258568"/>
            <a:ext cx="49560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只查「审批层级在不在 1-4」「标志位是不是 0/1」「金额超没超 500 万」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只防「无心之失」，覆盖不到真实舞弊的四种高发形态：制审同人、无凭证入账、越权审批、分单规避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需要注入业务审计红线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45352" y="1691640"/>
            <a:ext cx="5394960" cy="2743200"/>
          </a:xfrm>
          <a:prstGeom prst="roundRect">
            <a:avLst>
              <a:gd name="adj" fmla="val 2333"/>
            </a:avLst>
          </a:prstGeom>
          <a:solidFill>
            <a:srgbClr val="FBEAE7"/>
          </a:solidFill>
          <a:ln w="12700">
            <a:solidFill>
              <a:srgbClr val="E8C4B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64808" y="183794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23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缺口二：交付层——终端输出只有技术员能看懂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64808" y="2258568"/>
            <a:ext cx="49560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财务主管面对满屏 passed 一头雾水：这算好还是不好？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数据治理的成果停在了「最后一公里」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需要可视化看板，让质量「看得见」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8006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本阶段一句话定位：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把「能跑的检查工具」做成「拦得准、看得见的数据产品」—— 从单纯测试到数据产品闭环。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规则深化 · 反舞弊规则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四种舞弊形态 → 七条反舞弊规则</a:t>
            </a:r>
            <a:endParaRPr lang="en-US" sz="27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926080"/>
                <a:gridCol w="3685032"/>
                <a:gridCol w="16459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舞弊形态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审计红线（财务语言）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契约规则（机器语言）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值域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制单人与审批人同一人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不相容职务必须分离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same_preparer_approver_flag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只能为 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无支持性文件入账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无凭证不得入账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missing_support_flag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只能为 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审批层级低于应匹配层级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不得越权/降级审批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approval_below_expected_flag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只能为 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大额拆小额规避审批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不得分单规避审批阈值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near_approval_threshold_flag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只能为 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夜间手工录入（高风险组合）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标记必须合法可信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manual_after_hours_flag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限 0/1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时间字段异常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防时区转换/溢出错误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posting_hour ∈ [0,23]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posting_dayofweek ∈ [0,6]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表达式约束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规则设计第一原则：每一条都对应一条真实的财务审计红线，业务语言与机器语言一一互译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规则深化 · 规则架构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三层规则架构：严格度精确匹配风险性质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1316736"/>
          </a:xfrm>
          <a:prstGeom prst="roundRect">
            <a:avLst>
              <a:gd name="adj" fmla="val 4861"/>
            </a:avLst>
          </a:prstGeom>
          <a:solidFill>
            <a:srgbClr val="FBEAE7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379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23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舞弊红线层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77240" y="23500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值域 [0] · 一票否决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63240" y="1837944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防「有意舞弊」：制审同人 / 缺凭证 / 越权 / 分单——出现即熔断，零容忍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869680" y="1837944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i="1" dirty="0">
                <a:solidFill>
                  <a:srgbClr val="B23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这是「立法」：划定禁止行为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172968"/>
            <a:ext cx="11094415" cy="1316736"/>
          </a:xfrm>
          <a:prstGeom prst="roundRect">
            <a:avLst>
              <a:gd name="adj" fmla="val 4861"/>
            </a:avLst>
          </a:prstGeom>
          <a:solidFill>
            <a:srgbClr val="FFF8E1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3192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异常识别层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77240" y="383133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严格枚举 [0,1]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63240" y="3319272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保「审计信号」：夜间手工等标记必须合法可信，供风控模型区分正常加班与异常操作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9680" y="331927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i="1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这是「体检」：描述合法范围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654296"/>
            <a:ext cx="11094415" cy="1316736"/>
          </a:xfrm>
          <a:prstGeom prst="roundRect">
            <a:avLst>
              <a:gd name="adj" fmla="val 4861"/>
            </a:avLst>
          </a:prstGeom>
          <a:solidFill>
            <a:srgbClr val="E6F4EC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4800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数据防呆层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77240" y="531266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表达式约束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063240" y="48006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挡「系统错误」：posting_hour 0-23 / posting_dayofweek 0-6，防时区转换与字段溢出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869680" y="48006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i="1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这是「保险丝」：拦截技术故障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设计哲学：[0,1] 是描述「合法范围」，[0] 是划定「禁止行为」——同一把尺子，三种刻度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规则深化 · 验证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 项全绿 + 检查项演进的可验证口径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58521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720840" y="173736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 → 55 = +21 = 7 个新字段 × 3  </a:t>
            </a:r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增量与预期完全一致，证明 7 条规则全部被引擎识别、逐行扫描——计数公式再次立功</a:t>
            </a:r>
            <a:endParaRPr lang="en-US" sz="125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验证结果  </a:t>
            </a:r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🟢 Run 55 checks，0 failed，Took 3.96 秒（100 万行）</a:t>
            </a:r>
            <a:endParaRPr lang="en-US" sz="125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「预期反转」  </a:t>
            </a:r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原本预期会抓出红色 failed，结果全绿——基准数据集在内控层面极其干净；全绿本身就是审计证据</a:t>
            </a:r>
            <a:endParaRPr lang="en-US" sz="125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口径延续性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5 迁至 PostgreSQL 后继续增长到 63、72 项（+长度约束 +SQL 业务规则），同一把尺子量到底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规则深化 · 排错实录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工具链的两个「版本陷阱」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3017520"/>
          </a:xfrm>
          <a:prstGeom prst="roundRect">
            <a:avLst>
              <a:gd name="adj" fmla="val 2121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11096"/>
            <a:ext cx="274320" cy="274320"/>
          </a:xfrm>
          <a:prstGeom prst="ellipse">
            <a:avLst/>
          </a:prstGeom>
          <a:solidFill>
            <a:srgbClr val="B23B2E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1837944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陷阱一：GBK 报错「随机复发」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68096" y="2258568"/>
            <a:ext cx="49560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现象：同一个 GBK 编码错误时好时坏，像随机 bug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真根因：$env:PYTHONUTF8=1 是会话级变量——新开终端/重启 VSCode 即「失忆」，Python 退回 GBK 默认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教训：会话级修复是「每次重新救场」，系统级持久化才是「一次修好」——环境配置要写入镜像与编排文件（为阶段 3 埋下伏笔）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45352" y="1691640"/>
            <a:ext cx="5394960" cy="3017520"/>
          </a:xfrm>
          <a:prstGeom prst="roundRect">
            <a:avLst>
              <a:gd name="adj" fmla="val 2121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1911096"/>
            <a:ext cx="274320" cy="274320"/>
          </a:xfrm>
          <a:prstGeom prst="ellipse">
            <a:avLst/>
          </a:prstGeom>
          <a:solidFill>
            <a:srgbClr val="B23B2E"/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1837944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陷阱二：--format 参数「人间蒸发」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64808" y="2258568"/>
            <a:ext cx="49560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现象：按网上教程写 --format json，直接报错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真根因：datacontract-cli 自 v0.12.0 起移除该参数（Breaking Change），改用 ci 子命令；网上旧教程停留在旧版本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解法：datacontract ci … --output 报告.json --output-format json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教训：版本号是报错的坐标系——遇 API 报错先看版本，再看教程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11094415" cy="1188720"/>
          </a:xfrm>
          <a:prstGeom prst="roundRect">
            <a:avLst>
              <a:gd name="adj" fmla="val 5385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8096" y="5084064"/>
            <a:ext cx="10655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连带的防御性设计：JSON 结构随版本漂移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68096" y="5504688"/>
            <a:ext cx="106555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 与 test 输出的 JSON 字段名不一致 → 看板代码升级为「自动识别字段」兼容版：结果列在 ['result','status','state'] 中自动匹配，结构失配时把原始 JSON 直接打印到页面当调试窗口——代码不依赖任何单一字段名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规则深化 · 可视化交付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Streamlit 看板：让数据质量「看得见」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4066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110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0012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28" dirty="0"/>
          </a:p>
        </p:txBody>
      </p:sp>
      <p:sp>
        <p:nvSpPr>
          <p:cNvPr id="7" name="Text 5"/>
          <p:cNvSpPr/>
          <p:nvPr/>
        </p:nvSpPr>
        <p:spPr>
          <a:xfrm>
            <a:off x="1325880" y="180136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顶部 · 三枚指标卡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069080" y="1801368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总检查项 55 ｜ ✅ 通过 55 ｜ ❌ 失败 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660904"/>
            <a:ext cx="74066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8803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6938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28" dirty="0"/>
          </a:p>
        </p:txBody>
      </p:sp>
      <p:sp>
        <p:nvSpPr>
          <p:cNvPr id="12" name="Text 10"/>
          <p:cNvSpPr/>
          <p:nvPr/>
        </p:nvSpPr>
        <p:spPr>
          <a:xfrm>
            <a:off x="1325880" y="277063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中部 · 通过/失败柱状图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069080" y="2770632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数据质量整体概况一目了然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630168"/>
            <a:ext cx="74066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84962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3865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28" dirty="0"/>
          </a:p>
        </p:txBody>
      </p:sp>
      <p:sp>
        <p:nvSpPr>
          <p:cNvPr id="17" name="Text 15"/>
          <p:cNvSpPr/>
          <p:nvPr/>
        </p:nvSpPr>
        <p:spPr>
          <a:xfrm>
            <a:off x="1325880" y="373989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底部 · 逐条明细表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69080" y="3739896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每条规则一行，passed 染绿 / failed 染红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599432"/>
            <a:ext cx="74066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8188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80791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28" dirty="0"/>
          </a:p>
        </p:txBody>
      </p:sp>
      <p:sp>
        <p:nvSpPr>
          <p:cNvPr id="22" name="Text 20"/>
          <p:cNvSpPr/>
          <p:nvPr/>
        </p:nvSpPr>
        <p:spPr>
          <a:xfrm>
            <a:off x="1325880" y="470916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状态条 · 合规声明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069080" y="4709160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全绿：「数据契约校验完成，符合财务内控合规要求」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75320" y="1691640"/>
            <a:ext cx="3383280" cy="3840480"/>
          </a:xfrm>
          <a:prstGeom prst="roundRect">
            <a:avLst>
              <a:gd name="adj" fmla="val 189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03920" y="1920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全绿 = 合规证明书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503920" y="246888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契约的双重身份：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扫描仪 —— 发现脏数据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合规证明书 —— 证明数据干净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 项全绿不是「规则没用」，而是可出示的审计证据。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技术选型：Streamlit 纯 Python 交付，无需前端基础，localhost:8501 浏览器直达。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生产化迁移：从手动 Demo 到每日自动门禁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WSL2 + Docker + Kestra + PostgreSQL —— 运行环境、数据存储、调度方式的三重升级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100万行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迁入 PostgreSQL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每天06:00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47472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cron 自动执行门禁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23个坑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21792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环境配置排错链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55/55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96112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生产库上检查全绿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A0D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生产化迁移 · 阶段目标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三重升级：环境、存储、调度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11680" cy="1207008"/>
          </a:xfrm>
          <a:prstGeom prst="roundRect">
            <a:avLst>
              <a:gd name="adj" fmla="val 530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3911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运行环境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2697480" y="1691640"/>
            <a:ext cx="3108960" cy="1207008"/>
          </a:xfrm>
          <a:prstGeom prst="roundRect">
            <a:avLst>
              <a:gd name="adj" fmla="val 5303"/>
            </a:avLst>
          </a:prstGeom>
          <a:solidFill>
            <a:srgbClr val="FBEAE7"/>
          </a:solidFill>
          <a:ln w="12700">
            <a:solidFill>
              <a:srgbClr val="E8C4B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16936" y="1828800"/>
            <a:ext cx="267004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B23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Before：Windows 本机裸跑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1691640"/>
            <a:ext cx="3657600" cy="1207008"/>
          </a:xfrm>
          <a:prstGeom prst="roundRect">
            <a:avLst>
              <a:gd name="adj" fmla="val 5303"/>
            </a:avLst>
          </a:prstGeom>
          <a:solidFill>
            <a:srgbClr val="E6F4EC"/>
          </a:solidFill>
          <a:ln w="12700">
            <a:solidFill>
              <a:srgbClr val="BFE0C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63056" y="1828800"/>
            <a:ext cx="321868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After：Docker 容器（可移植、可复现、重启自愈）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738360" y="1691640"/>
            <a:ext cx="1920240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957816" y="1828800"/>
            <a:ext cx="148132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WSL2 + Docker Desktop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2011680" cy="1207008"/>
          </a:xfrm>
          <a:prstGeom prst="roundRect">
            <a:avLst>
              <a:gd name="adj" fmla="val 5303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41071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数据存储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2697480" y="3063240"/>
            <a:ext cx="3108960" cy="1207008"/>
          </a:xfrm>
          <a:prstGeom prst="roundRect">
            <a:avLst>
              <a:gd name="adj" fmla="val 5303"/>
            </a:avLst>
          </a:prstGeom>
          <a:solidFill>
            <a:srgbClr val="FBEAE7"/>
          </a:solidFill>
          <a:ln w="12700">
            <a:solidFill>
              <a:srgbClr val="E8C4B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916936" y="3200400"/>
            <a:ext cx="267004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B23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Before：本地 Parquet 文件（600MB）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3063240"/>
            <a:ext cx="3657600" cy="1207008"/>
          </a:xfrm>
          <a:prstGeom prst="roundRect">
            <a:avLst>
              <a:gd name="adj" fmla="val 5303"/>
            </a:avLst>
          </a:prstGeom>
          <a:solidFill>
            <a:srgbClr val="E6F4EC"/>
          </a:solidFill>
          <a:ln w="12700">
            <a:solidFill>
              <a:srgbClr val="BFE0C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63056" y="3200400"/>
            <a:ext cx="321868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After：PostgreSQL 生产库（网络可达、持久化卷、健康检查）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738360" y="3063240"/>
            <a:ext cx="1920240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957816" y="3200400"/>
            <a:ext cx="148132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postgres:18 容器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2011680" cy="1207008"/>
          </a:xfrm>
          <a:prstGeom prst="roundRect">
            <a:avLst>
              <a:gd name="adj" fmla="val 5303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78231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调度方式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2697480" y="4434840"/>
            <a:ext cx="3108960" cy="1207008"/>
          </a:xfrm>
          <a:prstGeom prst="roundRect">
            <a:avLst>
              <a:gd name="adj" fmla="val 5303"/>
            </a:avLst>
          </a:prstGeom>
          <a:solidFill>
            <a:srgbClr val="FBEAE7"/>
          </a:solidFill>
          <a:ln w="12700">
            <a:solidFill>
              <a:srgbClr val="E8C4B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916936" y="4572000"/>
            <a:ext cx="267004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B23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Before：手动敲命令，「想起来才查」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0" y="4434840"/>
            <a:ext cx="3657600" cy="1207008"/>
          </a:xfrm>
          <a:prstGeom prst="roundRect">
            <a:avLst>
              <a:gd name="adj" fmla="val 5303"/>
            </a:avLst>
          </a:prstGeom>
          <a:solidFill>
            <a:srgbClr val="E6F4EC"/>
          </a:solidFill>
          <a:ln w="12700">
            <a:solidFill>
              <a:srgbClr val="BFE0C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63056" y="4572000"/>
            <a:ext cx="321868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After：Kestra 定时编排，「每天自动查」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738360" y="4434840"/>
            <a:ext cx="1920240" cy="1207008"/>
          </a:xfrm>
          <a:prstGeom prst="roundRect">
            <a:avLst>
              <a:gd name="adj" fmla="val 5303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957816" y="4572000"/>
            <a:ext cx="148132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cron 0 6 * * *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5852160"/>
            <a:ext cx="11094415" cy="685800"/>
          </a:xfrm>
          <a:prstGeom prst="roundRect">
            <a:avLst>
              <a:gd name="adj" fmla="val 9333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68096" y="5998464"/>
            <a:ext cx="10655503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终态形态：Kestra 调度 + Docker 运行 + PostgreSQL 存储 + datacontract 执行 + JSON 报告 + Streamlit 看板 的自动化数据质量门禁系统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生产化迁移 · 关键架构决策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七次连环试错：为什么文件挂载是「死胡同」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4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最初方案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Kestra 通过 volume 挂载直接读 Windows 项目目录里的 600MB Parquet——「把数据搬到执行环境」的文件思维</a:t>
            </a:r>
            <a:endParaRPr lang="en-US" sz="125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试错 1-2：依赖与隔离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datacontract-cli[all] 依赖冲突（ResolutionImpossible）→ 按数据源收敛为 [postgres]；临时任务容器不继承主容器挂载</a:t>
            </a:r>
            <a:endParaRPr lang="en-US" sz="125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试错 3-4：字段与路径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volumeMounts 不是合法字段（须写在 taskRunner 下）；C:/ 与 /mnt/c/ 两种路径写法均失败——Docker Desktop 的专用 WSL 发行版与用户 Ubuntu 不是同一个</a:t>
            </a:r>
            <a:endParaRPr lang="en-US" sz="125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试错 5-6：主容器与命名空间文件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Kestra 主容器是 Java 镜像没有 Python（pip: not found）；namespaceFiles 能传文件，但 600MB 大文件走这条路不现实</a:t>
            </a:r>
            <a:endParaRPr lang="en-US" sz="125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试错 7：结构性结论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+ Docker Desktop + WSL2 + Kestra 组合下，任务容器无法稳定访问宿主机文件——这不是配置问题，是架构死胡同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5120640"/>
            <a:ext cx="11094415" cy="1234440"/>
          </a:xfrm>
          <a:prstGeom prst="roundRect">
            <a:avLst>
              <a:gd name="adj" fmla="val 518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528523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范式转变：「把数据搬到执行环境」→「执行环境通过网络访问数据源」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74243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数据库是「所有容器都能通过网络访问的、有持久化卷、有健康检查的数据中台」——迁库不是妥协，是架构升级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生产化迁移 · 环境底座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底座搭建：从虚拟化开关到 Engine running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5623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4525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64" dirty="0"/>
          </a:p>
        </p:txBody>
      </p:sp>
      <p:sp>
        <p:nvSpPr>
          <p:cNvPr id="6" name="Shape 4"/>
          <p:cNvSpPr/>
          <p:nvPr/>
        </p:nvSpPr>
        <p:spPr>
          <a:xfrm>
            <a:off x="1234440" y="1691640"/>
            <a:ext cx="1037844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63040" y="180136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虚拟化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931920" y="1801368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任务管理器确认 Intel VT-x 已启用；DISM 启用 WSL 与 VirtualMachinePlatform 两个系统组件（/norestart 后必须真重启）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93522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24251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64" dirty="0"/>
          </a:p>
        </p:txBody>
      </p:sp>
      <p:sp>
        <p:nvSpPr>
          <p:cNvPr id="11" name="Shape 9"/>
          <p:cNvSpPr/>
          <p:nvPr/>
        </p:nvSpPr>
        <p:spPr>
          <a:xfrm>
            <a:off x="1234440" y="2770632"/>
            <a:ext cx="1037844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63040" y="288036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WSL2 + Ubuntu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931920" y="2880360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wsl --install 一条命令装好四件事：WSL 2.7.14 + Ubuntu 发行版；Windows C 盘自动挂载到 Linux /mnt/c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01421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0324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64" dirty="0"/>
          </a:p>
        </p:txBody>
      </p:sp>
      <p:sp>
        <p:nvSpPr>
          <p:cNvPr id="16" name="Shape 14"/>
          <p:cNvSpPr/>
          <p:nvPr/>
        </p:nvSpPr>
        <p:spPr>
          <a:xfrm>
            <a:off x="1234440" y="3849624"/>
            <a:ext cx="1037844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463040" y="395935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Desktop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931920" y="3959352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设置中勾选 Use the WSL 2 based engine + WSL Integration 打开 Ubuntu；左下角出现绿色 Engine running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09320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08223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64" dirty="0"/>
          </a:p>
        </p:txBody>
      </p:sp>
      <p:sp>
        <p:nvSpPr>
          <p:cNvPr id="21" name="Shape 19"/>
          <p:cNvSpPr/>
          <p:nvPr/>
        </p:nvSpPr>
        <p:spPr>
          <a:xfrm>
            <a:off x="1234440" y="4928616"/>
            <a:ext cx="1037844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463040" y="503834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拉镜像起服务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931920" y="5038344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kestra/kestra:latest（580.8 秒）+ postgres:18（69.2 秒）；首次 docker compose up -d 输出 36/36 全绿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126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对转码者的意义：每一步都是「先查底座，再查应用」——虚拟化没开，上面的一切配置都是空中楼阁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生产化迁移 · 容器架构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docker-compose 架构：两个容器、两个卷、一张网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05840" y="1737360"/>
            <a:ext cx="4297680" cy="2011680"/>
          </a:xfrm>
          <a:prstGeom prst="roundRect">
            <a:avLst>
              <a:gd name="adj" fmla="val 3182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25296" y="1883664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kestra-postgres-1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225296" y="2304288"/>
            <a:ext cx="38587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 postgres:18</a:t>
            </a:r>
            <a:endParaRPr lang="en-US" sz="10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双用途：存 Kestra 元数据 + 存 100 万行业务数据</a:t>
            </a:r>
            <a:endParaRPr lang="en-US" sz="10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端口映射 5432:5432（宿主机可连）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健康检查 pg_isready（30s 间隔）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0" y="1737360"/>
            <a:ext cx="4297680" cy="2011680"/>
          </a:xfrm>
          <a:prstGeom prst="roundRect">
            <a:avLst>
              <a:gd name="adj" fmla="val 3182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77456" y="1883664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kestra-kestra-1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077456" y="2304288"/>
            <a:ext cx="38587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 kestra/kestra:latest，Java 应用</a:t>
            </a:r>
            <a:endParaRPr lang="en-US" sz="10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command: server standalone，Web UI :8080</a:t>
            </a:r>
            <a:endParaRPr lang="en-US" sz="10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挂载 docker.sock（可创建任务容器）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元数据存 PostgreSQL → Flow 重启不丢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40680" y="2514600"/>
            <a:ext cx="1188720" cy="310896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2926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1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kestra_default 网络（服务名即 DNS）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5840" y="3977640"/>
            <a:ext cx="101498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25296" y="4142232"/>
            <a:ext cx="97109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持久化卷：postgres-data（业务数据+元数据）、kestra-data（Kestra 文件）——容器删了数据不丢 ｜ restart: unless-stopped——意外退出自动拉起，开机自愈（重启后 10 分钟内系统完全恢复）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52578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compose 演进四版本：v1 初版 → v2 加 5432 端口映射 → v3 pull_policy 改 missing（解决国内拉镜像失败）→ v4 加 restart 自愈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5760720"/>
            <a:ext cx="11094415" cy="731520"/>
          </a:xfrm>
          <a:prstGeom prst="roundRect">
            <a:avLst>
              <a:gd name="adj" fmla="val 8750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68096" y="5925312"/>
            <a:ext cx="1065550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一个关键认知：改 compose 必须重启容器才生效（启动时读一次）；改 Kestra Flow 点 Save 立即生效（存在内部 PostgreSQL，Save 即写库）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生产化迁移 · 数据迁移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万行搬家：pandas → SQLAlchemy → PostgreSQL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37944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69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96" dirty="0"/>
          </a:p>
        </p:txBody>
      </p:sp>
      <p:sp>
        <p:nvSpPr>
          <p:cNvPr id="6" name="Shape 4"/>
          <p:cNvSpPr/>
          <p:nvPr/>
        </p:nvSpPr>
        <p:spPr>
          <a:xfrm>
            <a:off x="1207008" y="1691640"/>
            <a:ext cx="104241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44752" y="1792224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打通端口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66160" y="1792224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compose 给 postgres 加 ports 5432:5432——此前报 Connection refused；注意：端口映射只是「开门」，不是「搬家」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898648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8767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96" dirty="0"/>
          </a:p>
        </p:txBody>
      </p:sp>
      <p:sp>
        <p:nvSpPr>
          <p:cNvPr id="11" name="Shape 9"/>
          <p:cNvSpPr/>
          <p:nvPr/>
        </p:nvSpPr>
        <p:spPr>
          <a:xfrm>
            <a:off x="1207008" y="2752344"/>
            <a:ext cx="104241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44752" y="285292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建立连接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2852928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SQLAlchemy create_engine('postgresql://kestra:k3str4@localhost:5432/kestra')；驱动选 psycopg2-binary 预编译版，避开 Windows 编译 C 扩展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959352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4837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96" dirty="0"/>
          </a:p>
        </p:txBody>
      </p:sp>
      <p:sp>
        <p:nvSpPr>
          <p:cNvPr id="16" name="Shape 14"/>
          <p:cNvSpPr/>
          <p:nvPr/>
        </p:nvSpPr>
        <p:spPr>
          <a:xfrm>
            <a:off x="1207008" y="3813048"/>
            <a:ext cx="104241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444752" y="3913632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分块写入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160" y="3913632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df.to_sql('erp_transactions', …, chunksize=10000)——每批 1 万行，防内存溢出与连接超时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020056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0090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96" dirty="0"/>
          </a:p>
        </p:txBody>
      </p:sp>
      <p:sp>
        <p:nvSpPr>
          <p:cNvPr id="21" name="Shape 19"/>
          <p:cNvSpPr/>
          <p:nvPr/>
        </p:nvSpPr>
        <p:spPr>
          <a:xfrm>
            <a:off x="1207008" y="4873752"/>
            <a:ext cx="104241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444752" y="4974336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验证到账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66160" y="4974336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输出「数据已成功灌入 PostgreSQL，共 1000000 行」；len(df) 最终确认 1,000,000 行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54864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迁后关系  </a:t>
            </a:r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Parquet 与库中 erp_transactions 是「两份独立存储」——删原文件不影响库内数据</a:t>
            </a:r>
            <a:endParaRPr lang="en-US" sz="120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类型映射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pandas → PostgreSQL：int64 → bigint，int32 → integer，float64 → double precision（下一场「类型对齐之战」的伏笔）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生产化迁移 · 任务编排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最终版 Flow 五要素：erp-financial-data-quality-gate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977640" cy="768096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containerImage: python:3.12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709160" y="1645920"/>
            <a:ext cx="694944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28616" y="1737360"/>
            <a:ext cx="6510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每次执行临时拉起 Python 任务容器（用完即删）——检查环境与调度器彻底隔离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3977640" cy="768096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33472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namespaceFiles: enabled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2542032"/>
            <a:ext cx="694944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28616" y="2633472"/>
            <a:ext cx="6510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把命名空间里的契约 YAML「喂」给任务容器——Kestra 内副本与本地文件是两套，修改需双向同步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438144"/>
            <a:ext cx="3977640" cy="768096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29584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taskRunner + networkMode: kestra_default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3438144"/>
            <a:ext cx="694944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28616" y="3529584"/>
            <a:ext cx="6510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任务容器加入与 PostgreSQL 同一张 Docker 网络——服务名 postgres 才能被 DNS 解析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334256"/>
            <a:ext cx="3977640" cy="768096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425696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注入凭据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4334256"/>
            <a:ext cx="694944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28616" y="4425696"/>
            <a:ext cx="6510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DATACONTRACT_POSTGRES_USERNAME/PASSWORD 运行时注入——密码不写死在 YAML（为阶段 4 Secret 改造留口）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230368"/>
            <a:ext cx="3977640" cy="768096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321808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triggers: cron "0 6 * * *"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5230368"/>
            <a:ext cx="694944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28616" y="5321808"/>
            <a:ext cx="6510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每天凌晨 6:00 自动执行——调度器住在 Kestra 容器内，不是 Windows 计划任务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172200"/>
            <a:ext cx="11094415" cy="502920"/>
          </a:xfrm>
          <a:prstGeom prst="roundRect">
            <a:avLst>
              <a:gd name="adj" fmla="val 12727"/>
            </a:avLst>
          </a:prstGeom>
          <a:solidFill>
            <a:srgbClr val="E6F4EC"/>
          </a:solidFill>
          <a:ln w="12700">
            <a:solidFill>
              <a:srgbClr val="BFE0C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8096" y="6263640"/>
            <a:ext cx="1065550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终局输出：🟢 data contract is valid. Run 55 checks. Took 4.32 s · result: passed · row_count: 1000000 · exit code 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生产化迁移 · 验证攻坚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类型对齐之战：45 → 53 → 55 的三轮修正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8C4B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首轮：45 passed / 10 failed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契约写 integer，数据库是 bigint（9 项）；契约写 number，数据库是 double precision（1 项）——pandas 类型与 PG 物理类型不一致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51376" y="2468880"/>
            <a:ext cx="201168" cy="310896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4370832" y="1691640"/>
            <a:ext cx="356616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8C4B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53712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二轮：53 passed / 2 failed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53712" y="22860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全局替换 integer→bigint、number→double 后，剩 posting_hour / posting_dayofweek 两项仍失败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73568" y="2468880"/>
            <a:ext cx="201168" cy="310896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2" name="Shape 10"/>
          <p:cNvSpPr/>
          <p:nvPr/>
        </p:nvSpPr>
        <p:spPr>
          <a:xfrm>
            <a:off x="8193024" y="1691640"/>
            <a:ext cx="356616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BFE0C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75904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三轮：55 passed / 0 failed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75904" y="22860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按真实 schema 逐字段校准：这两列实为 int32 → PG 里是 integer，改回 integer 后全绿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1094415" cy="1188720"/>
          </a:xfrm>
          <a:prstGeom prst="roundRect">
            <a:avLst>
              <a:gd name="adj" fmla="val 5385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68096" y="4032504"/>
            <a:ext cx="10655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三条方法论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68096" y="4453128"/>
            <a:ext cx="106555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契约类型必须匹配数据库真实列类型——「物理类型对齐」，写契约前先看真实 schema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批量修正后必须逐字段校准——全局替换解决 80%，剩下 20% 恰是最暴露问题的个案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本地与 Kestra 两份契约除 host 外必须一字不差——曾出现「本地全绿、Kestra 失败」的双端不一致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53035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最终验证（Kestra 定时任务实跑）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🟢 Run 55 checks · Took 4.32 s · JSON 报告 result: passed · row_count: 1,000,000 · failed_fraction: 0.0 · exit code 0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生产化迁移 · 排错精华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个坑里的四颗「珍珠」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11096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1837944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网络拓扑坑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68096" y="225856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任务容器里 host 写 localhost → 指向容器自己，Connection refused；改 postgres → Name or service not known（不在同一网络）→ networkMode: kestra_default 才通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8096" y="32644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容器世界里「localhost」不是「这台电脑」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44068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19088" y="1911096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6784848" y="1837944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凭据注入坑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37376" y="225856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missing_env_DATACONTRACT_POSTGRES_USERNAME——凭据没传到任务容器 → Flow env 显式注入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37376" y="32644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容器间什么都不自动继承，一切显式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44068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4105656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4032504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日志辨伪坑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68096" y="445312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pip 的 root 警告走 stderr，被 Kestra 标成 ERROR，但任务实际成功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68096" y="54589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成败看 exit code（0/1/2/127），不看日志颜色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544068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19088" y="4105656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6784848" y="4032504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重启灾难坑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37376" y="445312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重启电脑后服务全停 → 数据在命名卷里不丢，按序恢复：Docker Desktop → compose up → docker ps；加 restart: unless-stopped 后自愈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37376" y="54589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持久化靠卷，高可用靠策略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安全与告警：敢上生产的两条铁律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密码不落地（Secret 改造） · 失败有人知（钉钉告警）——不新增检查规则，只补生产短板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0处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契约/编排中的明文密码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数秒内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47472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失败告警直达钉钉群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3次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21792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 方案迭代才成功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1次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96112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真实密钥轮换演练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A0D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安全与告警 · Secret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 改造：三次失败换来的正确姿势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BEAE7"/>
          </a:solidFill>
          <a:ln w="12700">
            <a:solidFill>
              <a:srgbClr val="E8C4B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56616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3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v1：env() 读普通变量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395728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missing_env——Kestra 的 env() 默认只读 KESTRA_ 开头的白名单变量，其余渲染为空（安全设计）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70832" y="1691640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BEAE7"/>
          </a:solidFill>
          <a:ln w="12700">
            <a:solidFill>
              <a:srgbClr val="E8C4B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8835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3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53712" y="1828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v2：variables.env 加白名单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53712" y="2395728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 missing_env——variables.env 是配置层（管「能不能读」的权限），不是注入层（不管把值送进任务容器）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93024" y="1691640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E6F4EC"/>
          </a:solidFill>
          <a:ln w="12700">
            <a:solidFill>
              <a:srgbClr val="BFE0C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210544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75904" y="1828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v3：SECRET_ 前缀 + Base64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75904" y="2395728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官方社区版方案：SECRET_ 开头变量启动时 Base64 解码进内部 Secret 存储，Flow 用 {{ secret('KEY') }} 读取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1094415" cy="1051560"/>
          </a:xfrm>
          <a:prstGeom prst="roundRect">
            <a:avLst>
              <a:gd name="adj" fmla="val 6087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8096" y="4261104"/>
            <a:ext cx="10655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完整链路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68096" y="4681728"/>
            <a:ext cx="106555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密码明文 → PowerShell 编为 Base64 → 写入 compose 环境变量（SECRET_POSTGRES_PASSWORD）→ 重启容器 → Kestra 解码入 Secret 存储 → Flow 渲染真实值 → 注入任务容器 → datacontract-cli 连库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440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B23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重要认知：Base64 是编码不是加密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——可逆、无需密钥、谁都能解，只是「换马甲」不是「上锁」。真正让密码不落地的是「不写明文 + 环境变量隔离」。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安全与告警 · 钉钉告警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钉钉告警：从「等人来看」到「主动上门」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6354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96" dirty="0"/>
          </a:p>
        </p:txBody>
      </p:sp>
      <p:sp>
        <p:nvSpPr>
          <p:cNvPr id="6" name="Shape 4"/>
          <p:cNvSpPr/>
          <p:nvPr/>
        </p:nvSpPr>
        <p:spPr>
          <a:xfrm>
            <a:off x="1234440" y="1691640"/>
            <a:ext cx="103784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63040" y="178308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建机器人拿 Webhook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0" y="178308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钉钉群自定义机器人 → https 地址（安全设置选「自定义关键词」，免签名）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84378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328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96" dirty="0"/>
          </a:p>
        </p:txBody>
      </p:sp>
      <p:sp>
        <p:nvSpPr>
          <p:cNvPr id="11" name="Shape 9"/>
          <p:cNvSpPr/>
          <p:nvPr/>
        </p:nvSpPr>
        <p:spPr>
          <a:xfrm>
            <a:off x="1234440" y="2660904"/>
            <a:ext cx="103784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63040" y="2752344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Webhook 编入 Secret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14800" y="2752344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Base64 编码 → SECRET_DINGTALK_WEBHOOK → 重启容器并 docker exec 验证注入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81304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80207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96" dirty="0"/>
          </a:p>
        </p:txBody>
      </p:sp>
      <p:sp>
        <p:nvSpPr>
          <p:cNvPr id="16" name="Shape 14"/>
          <p:cNvSpPr/>
          <p:nvPr/>
        </p:nvSpPr>
        <p:spPr>
          <a:xfrm>
            <a:off x="1234440" y="3630168"/>
            <a:ext cx="103784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463040" y="372160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errors 块改造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114800" y="372160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 任务（只记下来）→ http.Request 任务（发出去）：POST JSON 到 Webhook，正文带 Flow 名/Execution ID/时间戳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78231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77133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96" dirty="0"/>
          </a:p>
        </p:txBody>
      </p:sp>
      <p:sp>
        <p:nvSpPr>
          <p:cNvPr id="21" name="Shape 19"/>
          <p:cNvSpPr/>
          <p:nvPr/>
        </p:nvSpPr>
        <p:spPr>
          <a:xfrm>
            <a:off x="1234440" y="4599432"/>
            <a:ext cx="103784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463040" y="469087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端到端验证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114800" y="4690872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故意把 host 改坏 → 55 项全失败 → errors 触发 → 钉钉数秒内收到告警；改回 → 全绿不响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669280"/>
            <a:ext cx="6766560" cy="914400"/>
          </a:xfrm>
          <a:prstGeom prst="roundRect">
            <a:avLst>
              <a:gd name="adj" fmla="val 7000"/>
            </a:avLst>
          </a:prstGeom>
          <a:solidFill>
            <a:srgbClr val="F7F9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5779008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ERP数据契约检查失败！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Flow: erp-financial-data-quality-gate ｜ Execution ID: 4ADZ2sDZ… ｜ 时间: 2026-09-20T04:53:05Z ｜ 请查看Kestra日志排查。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635240" y="5669280"/>
            <a:ext cx="4023360" cy="914400"/>
          </a:xfrm>
          <a:prstGeom prst="roundRect">
            <a:avLst>
              <a:gd name="adj" fmla="val 7000"/>
            </a:avLst>
          </a:prstGeom>
          <a:solidFill>
            <a:srgbClr val="E6F4EC"/>
          </a:solidFill>
          <a:ln w="12700">
            <a:solidFill>
              <a:srgbClr val="BFE0C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854696" y="5779008"/>
            <a:ext cx="3584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验收标准：「全绿不响、失败才响」——验证完必须立刻改回 host，否则每天 6 点定时推「狼来了」假告警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安全与告警 · 实战演练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Webhook 真实泄露：一次计划外的密钥轮换演练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FBEAE7"/>
          </a:solidFill>
          <a:ln w="12700">
            <a:solidFill>
              <a:srgbClr val="E8C4B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83794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23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事故：Webhook 明文误贴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68096" y="2258568"/>
            <a:ext cx="49560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开发过程中误把 Webhook 明文贴进对话——任何持有者都能往群里发消息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Webhook 本身即密钥：没有密码学保护，泄露即越权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45352" y="1691640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E6F4EC"/>
          </a:solidFill>
          <a:ln w="12700">
            <a:solidFill>
              <a:srgbClr val="BFE0C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64808" y="183794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补救：标准轮换四步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64808" y="2258568"/>
            <a:ext cx="49560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作废旧钥匙：删除旧机器人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签发新钥匙：重建机器人拿新 Webhook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重新配置：Base64 编码 → 写回 compose → 重启容器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验证可用：失败测试确认告警恢复，新地址不再公开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251960"/>
            <a:ext cx="1109441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验收清单（4 项全过才算收口）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 已改回且 55 项全绿 / 旧机器人已删、新 Webhook 未公开 / compose 已更新并重启 / 全链路验证通过</a:t>
            </a:r>
            <a:endParaRPr lang="en-US" sz="125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认知升级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「复制粘贴 ≠ 建立链接」：VSCode 是字符串的出生地，Kestra 容器是居住地，两边是两份独立配置——这也是双端不一致类 bug 的总根因</a:t>
            </a:r>
            <a:endParaRPr lang="en-US" sz="125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阶段定位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本卷 = 安全与运维逻辑；至此系列认知主线补齐：基础篇=规则逻辑、看板篇=产品逻辑、环境篇=系统逻辑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业务系统与前台：给数据一个真实的「业务源头」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从零设计 6 表 1 视图的模拟 ERP · 造数器产出 10,022 条业务数据 · Streamlit 前台让 72 项检查由真实业务动作触发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6表+1视图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完整业务数据模型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10,022条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47472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可复现造数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72项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21792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契约检查终极形态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V1→V5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96112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前台五个稳定版本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A0D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业务系统 · 阶段目标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为什么必须「自己造数据」：补上业务因果链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651760"/>
          </a:xfrm>
          <a:prstGeom prst="roundRect">
            <a:avLst>
              <a:gd name="adj" fmla="val 2414"/>
            </a:avLst>
          </a:prstGeom>
          <a:solidFill>
            <a:srgbClr val="FBEAE7"/>
          </a:solidFill>
          <a:ln w="12700">
            <a:solidFill>
              <a:srgbClr val="E8C4B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83794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23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此前的四个「不能」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68096" y="2258568"/>
            <a:ext cx="49560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数据没有业务源头——静态 Parquet 是被「喂」进来的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不能规模化再生——一份数据用到底，无法演示增量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不能演示「违规如何产生」——全绿无法证明门禁能拦坏人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字段没有业务出处——18 个字段说不清「来自哪个操作」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45352" y="1691640"/>
            <a:ext cx="5394960" cy="2651760"/>
          </a:xfrm>
          <a:prstGeom prst="roundRect">
            <a:avLst>
              <a:gd name="adj" fmla="val 2414"/>
            </a:avLst>
          </a:prstGeom>
          <a:solidFill>
            <a:srgbClr val="E6F4EC"/>
          </a:solidFill>
          <a:ln w="12700">
            <a:solidFill>
              <a:srgbClr val="BFE0C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64808" y="183794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造完之后的四个「能」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64808" y="2258568"/>
            <a:ext cx="49560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有源头：申请→审批→记账的业务流产生数据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能再生：造数器固定种子，任意规模可复现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能反向验证：异常注入精确埋入违规，看门禁抓不抓得住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有血缘：每个契约字段可追溯到一个真实业务动作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分库而治：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Kestra 元数据库（kestra）与业务数据库（erp_demo）分开——基础设施与业务数据互不污染，这是生产环境的基本素养。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577840"/>
            <a:ext cx="11094415" cy="822960"/>
          </a:xfrm>
          <a:prstGeom prst="roundRect">
            <a:avLst>
              <a:gd name="adj" fmla="val 7778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8096" y="5724144"/>
            <a:ext cx="1065550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事实边界（诚实声明）：本阶段交付「可验证的业务库 + 造数 + 异常注入 + Pytest + 看板 + 定时校验」；员工登录、业务前台、RBAC、LLM 属后续阶段，本阶段未实现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业务系统 · 业务设计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业务建模：三类业务、九条审批策略</a:t>
            </a:r>
            <a:endParaRPr lang="en-US" sz="27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2743200"/>
                <a:gridCol w="2743200"/>
                <a:gridCol w="267919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科目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档位一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档位二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档位三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采购（设备采购）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1601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0–5 万 → 2 级审批（POL001）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5–20 万 → 3 级（POL002）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20–200 万 → 4 级（POL003）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研发（研发费用）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6601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0–10 万 → 2 级（POL004）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10–50 万 → 3 级（POL005）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50–200 万 → 4 级（POL006）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销售（客户费用）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6603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0–3 万 → 2 级（POL007）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3–10 万 → 3 级（POL008）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10–100 万 → 4 级（POL009）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97764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规则写成数据，而不是代码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九条策略存在 approval_policies 表里——业务部门改数字即可调门槛，不用改程序；这是「数据契约思想」在业务规则上的复用</a:t>
            </a:r>
            <a:endParaRPr lang="en-US" sz="125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区间口径：下限包含、上限不包含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[min, max)——5 万整落在 5–20 万档需 3 级审批；口径必须在建模时说死，否则边界单据永远扯皮</a:t>
            </a:r>
            <a:endParaRPr lang="en-US" sz="125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临近阈值字段 near_threshold_amount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每条策略带「临近线」（如 5 万档的临近线 4.5 万）——金额落在临近线之上即触发「分单规避」风控检查</a:t>
            </a:r>
            <a:endParaRPr lang="en-US" sz="125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业务流转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员工提交申请 → 系统按「业务类型+类别+金额」匹配策略得 required_level → 生成审批记录（含级别快照）→ 审批通过自动生成财务分录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业务系统 · 数据模型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表 + 1 视图：完整的数据血缘链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240280" cy="1188720"/>
          </a:xfrm>
          <a:prstGeom prst="roundRect">
            <a:avLst>
              <a:gd name="adj" fmla="val 538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029968"/>
            <a:ext cx="2020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employees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 30 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2706624"/>
            <a:ext cx="2020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列 · 级别 1-4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2240280" cy="1188720"/>
          </a:xfrm>
          <a:prstGeom prst="roundRect">
            <a:avLst>
              <a:gd name="adj" fmla="val 5385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4087368"/>
            <a:ext cx="2020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projects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 10 个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4764024"/>
            <a:ext cx="2020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列 · 预算/状态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08960" y="1920240"/>
            <a:ext cx="2240280" cy="1188720"/>
          </a:xfrm>
          <a:prstGeom prst="roundRect">
            <a:avLst>
              <a:gd name="adj" fmla="val 5385"/>
            </a:avLst>
          </a:prstGeom>
          <a:solidFill>
            <a:srgbClr val="2B3A7A"/>
          </a:solidFill>
          <a:ln/>
        </p:spPr>
      </p:sp>
      <p:sp>
        <p:nvSpPr>
          <p:cNvPr id="11" name="Text 9"/>
          <p:cNvSpPr/>
          <p:nvPr/>
        </p:nvSpPr>
        <p:spPr>
          <a:xfrm>
            <a:off x="3218688" y="2029968"/>
            <a:ext cx="2020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approval_policies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审批策略 9 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18688" y="2706624"/>
            <a:ext cx="2020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列 · 金额分档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77840" y="1417320"/>
            <a:ext cx="2240280" cy="1188720"/>
          </a:xfrm>
          <a:prstGeom prst="roundRect">
            <a:avLst>
              <a:gd name="adj" fmla="val 5385"/>
            </a:avLst>
          </a:prstGeom>
          <a:solidFill>
            <a:srgbClr val="2B3A7A"/>
          </a:solidFill>
          <a:ln/>
        </p:spPr>
      </p:sp>
      <p:sp>
        <p:nvSpPr>
          <p:cNvPr id="14" name="Text 12"/>
          <p:cNvSpPr/>
          <p:nvPr/>
        </p:nvSpPr>
        <p:spPr>
          <a:xfrm>
            <a:off x="5687568" y="1527048"/>
            <a:ext cx="2020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business_requests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业务申请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87568" y="2203704"/>
            <a:ext cx="2020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列 · 金额/凭证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77840" y="2926080"/>
            <a:ext cx="2240280" cy="1188720"/>
          </a:xfrm>
          <a:prstGeom prst="roundRect">
            <a:avLst>
              <a:gd name="adj" fmla="val 5385"/>
            </a:avLst>
          </a:prstGeom>
          <a:solidFill>
            <a:srgbClr val="2B3A7A"/>
          </a:solidFill>
          <a:ln/>
        </p:spPr>
      </p:sp>
      <p:sp>
        <p:nvSpPr>
          <p:cNvPr id="17" name="Text 15"/>
          <p:cNvSpPr/>
          <p:nvPr/>
        </p:nvSpPr>
        <p:spPr>
          <a:xfrm>
            <a:off x="5687568" y="3035808"/>
            <a:ext cx="2020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approval_records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审批记录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87568" y="3712464"/>
            <a:ext cx="2020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列 · 级别快照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77840" y="4434840"/>
            <a:ext cx="2240280" cy="1188720"/>
          </a:xfrm>
          <a:prstGeom prst="roundRect">
            <a:avLst>
              <a:gd name="adj" fmla="val 5385"/>
            </a:avLst>
          </a:prstGeom>
          <a:solidFill>
            <a:srgbClr val="2B3A7A"/>
          </a:solidFill>
          <a:ln/>
        </p:spPr>
      </p:sp>
      <p:sp>
        <p:nvSpPr>
          <p:cNvPr id="20" name="Text 18"/>
          <p:cNvSpPr/>
          <p:nvPr/>
        </p:nvSpPr>
        <p:spPr>
          <a:xfrm>
            <a:off x="5687568" y="4544568"/>
            <a:ext cx="2020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journal_entries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财务分录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87568" y="5221224"/>
            <a:ext cx="2020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列 · 事实表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95360" y="2926080"/>
            <a:ext cx="2240280" cy="1188720"/>
          </a:xfrm>
          <a:prstGeom prst="roundRect">
            <a:avLst>
              <a:gd name="adj" fmla="val 5385"/>
            </a:avLst>
          </a:pr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8705088" y="3035808"/>
            <a:ext cx="2020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erp_transactions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视图（18 列）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705088" y="3712464"/>
            <a:ext cx="2020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4A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契约接口适配层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76672" y="1874520"/>
            <a:ext cx="201168" cy="310896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6" name="Shape 24"/>
          <p:cNvSpPr/>
          <p:nvPr/>
        </p:nvSpPr>
        <p:spPr>
          <a:xfrm>
            <a:off x="5376672" y="3383280"/>
            <a:ext cx="201168" cy="310896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7" name="Shape 25"/>
          <p:cNvSpPr/>
          <p:nvPr/>
        </p:nvSpPr>
        <p:spPr>
          <a:xfrm>
            <a:off x="5376672" y="4892040"/>
            <a:ext cx="201168" cy="310896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8" name="Shape 26"/>
          <p:cNvSpPr/>
          <p:nvPr/>
        </p:nvSpPr>
        <p:spPr>
          <a:xfrm>
            <a:off x="7863840" y="3383280"/>
            <a:ext cx="685800" cy="310896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1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主数据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7784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1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业务流转（申请 → 审批 → 记账）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95360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契约 72 项检查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806440"/>
            <a:ext cx="11094415" cy="777240"/>
          </a:xfrm>
          <a:prstGeom prst="roundRect">
            <a:avLst>
              <a:gd name="adj" fmla="val 8235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68096" y="5971032"/>
            <a:ext cx="1065550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单据级反查：从交易号 TXN-REQ003 可倒查 申请 REQ003 → 审批 APR003 → 命中策略 POL002 → 申请人/审批人/所属项目——血缘闭环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业务系统 · 设计细节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三个体现「财务功力」的表设计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02736" cy="4023360"/>
          </a:xfrm>
          <a:prstGeom prst="roundRect">
            <a:avLst>
              <a:gd name="adj" fmla="val 1777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11096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18379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approver_level_snapshot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审批人级别快照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68096" y="2560320"/>
            <a:ext cx="3163824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审批记录里存的是「审批当时」的级别快照，不是实时关联员工表</a:t>
            </a:r>
            <a:endParaRPr lang="en-US" sz="10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为什么：员工升职后，若实时关联，历史审批记录的「级别」会被覆盖——当年 3 级审的单会变成 4 级审的，审计留痕被篡改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这是审计思维在 schema 设计中的直接体现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602736" cy="4023360"/>
          </a:xfrm>
          <a:prstGeom prst="roundRect">
            <a:avLst>
              <a:gd name="adj" fmla="val 1777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98848" y="1911096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4864608" y="18379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同名不同型的 flag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（boolean vs integer）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17136" y="2560320"/>
            <a:ext cx="3163824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approval_records 的标志位是 boolean，journal_entries 同名标志位是 integer 0/1</a:t>
            </a:r>
            <a:endParaRPr lang="en-US" sz="10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这是建模时的真实失误，文档如实记录并在造数器 V4 中修正（0/1 → False/True）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教训：跨表同名字段的类型一致性要画在 ER 图上逐一对齐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602736" cy="4023360"/>
          </a:xfrm>
          <a:prstGeom prst="roundRect">
            <a:avLst>
              <a:gd name="adj" fmla="val 1777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47888" y="1911096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8613648" y="18379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约束即内控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 / 外键 / 唯一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66176" y="2560320"/>
            <a:ext cx="3163824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员工级别 CHECK 限 1-4；项目预算 ≥ 0；策略金额区间合法</a:t>
            </a:r>
            <a:endParaRPr lang="en-US" sz="10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审批记录「申请+序号」联合唯一（uq_request_approval_sequence）——防重复审批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个外键保证单据链完整，孤儿单据插不进来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业务系统 · 接口设计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视图 erp_transactions：契约与业务之间的「翻译官」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377440"/>
          </a:xfrm>
          <a:prstGeom prst="roundRect">
            <a:avLst>
              <a:gd name="adj" fmla="val 2692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83794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它做什么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68096" y="2258568"/>
            <a:ext cx="49560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24 列的分录表裁出 18 列——正好是契约检查的全部字段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业务上下文字段（request_id 等）不对外暴露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契约直接校验这个视图，而非底表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45352" y="1691640"/>
            <a:ext cx="5394960" cy="2377440"/>
          </a:xfrm>
          <a:prstGeom prst="roundRect">
            <a:avLst>
              <a:gd name="adj" fmla="val 2692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64808" y="183794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为什么这么设计（而不是改表迁就契约）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64808" y="2258568"/>
            <a:ext cx="49560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业务表结构服务于业务，不该为质检工具扭曲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契约接口保持稳定，业务表演化不波及契约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视图不存数据、零冗余——典型的「适配层/防腐层」模式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389120"/>
            <a:ext cx="110944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字段映射示例  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support_document_flag（申请）→ supporting_document_flag（分录）→ missing_support_flag = NOT …（视图）——业务语言转审计语言</a:t>
            </a:r>
            <a:endParaRPr lang="en-US" sz="125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两套口径并存  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risk_class（LOW/MEDIUM/HIGH 业务风险分档）与契约 PASS/FAIL（合规判定）是两套独立口径，互不替代</a:t>
            </a:r>
            <a:endParaRPr lang="en-US" sz="125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双端寻址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同一视图两种连接坐标：宿主机 localhost:5432 / Kestra 任务容器 postgres:5432——同一数据库的两种视角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业务系统 · 造数工程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造数生成器：五步流水线 + 事务安全 + 可复现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29968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62456" y="150876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1362456" y="149778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60" dirty="0"/>
          </a:p>
        </p:txBody>
      </p:sp>
      <p:sp>
        <p:nvSpPr>
          <p:cNvPr id="7" name="Text 5"/>
          <p:cNvSpPr/>
          <p:nvPr/>
        </p:nvSpPr>
        <p:spPr>
          <a:xfrm>
            <a:off x="658368" y="196596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读库取主数据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（30 员工/10 项目/9 规则，不硬编码）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15184" y="2331720"/>
            <a:ext cx="182880" cy="310896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9" name="Shape 7"/>
          <p:cNvSpPr/>
          <p:nvPr/>
        </p:nvSpPr>
        <p:spPr>
          <a:xfrm>
            <a:off x="2834640" y="1691640"/>
            <a:ext cx="2029968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48456" y="150876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3648456" y="149778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60" dirty="0"/>
          </a:p>
        </p:txBody>
      </p:sp>
      <p:sp>
        <p:nvSpPr>
          <p:cNvPr id="12" name="Text 10"/>
          <p:cNvSpPr/>
          <p:nvPr/>
        </p:nvSpPr>
        <p:spPr>
          <a:xfrm>
            <a:off x="2944368" y="196596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按规则随机组合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choose_approver 保证级别达标且≠制单人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01184" y="2331720"/>
            <a:ext cx="182880" cy="310896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691640"/>
            <a:ext cx="2029968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34456" y="150876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5934456" y="149778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60" dirty="0"/>
          </a:p>
        </p:txBody>
      </p:sp>
      <p:sp>
        <p:nvSpPr>
          <p:cNvPr id="17" name="Text 15"/>
          <p:cNvSpPr/>
          <p:nvPr/>
        </p:nvSpPr>
        <p:spPr>
          <a:xfrm>
            <a:off x="5230368" y="196596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金额安全区间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[下限+1000, 临近线-1000] 且 ≤ 499 万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187184" y="2331720"/>
            <a:ext cx="182880" cy="310896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9" name="Shape 17"/>
          <p:cNvSpPr/>
          <p:nvPr/>
        </p:nvSpPr>
        <p:spPr>
          <a:xfrm>
            <a:off x="7406640" y="1691640"/>
            <a:ext cx="2029968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0456" y="150876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8220456" y="149778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60" dirty="0"/>
          </a:p>
        </p:txBody>
      </p:sp>
      <p:sp>
        <p:nvSpPr>
          <p:cNvPr id="22" name="Text 20"/>
          <p:cNvSpPr/>
          <p:nvPr/>
        </p:nvSpPr>
        <p:spPr>
          <a:xfrm>
            <a:off x="7516368" y="196596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时间摊铺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20 个工作日 · 8-17 点 · 周末顺延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473184" y="2331720"/>
            <a:ext cx="182880" cy="310896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4" name="Shape 22"/>
          <p:cNvSpPr/>
          <p:nvPr/>
        </p:nvSpPr>
        <p:spPr>
          <a:xfrm>
            <a:off x="9692640" y="1691640"/>
            <a:ext cx="2029968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506456" y="150876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/>
          <p:nvPr/>
        </p:nvSpPr>
        <p:spPr>
          <a:xfrm>
            <a:off x="10506456" y="149778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60" dirty="0"/>
          </a:p>
        </p:txBody>
      </p:sp>
      <p:sp>
        <p:nvSpPr>
          <p:cNvPr id="27" name="Text 25"/>
          <p:cNvSpPr/>
          <p:nvPr/>
        </p:nvSpPr>
        <p:spPr>
          <a:xfrm>
            <a:off x="9802368" y="196596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三表批量写入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全成功才 commit，任一失败 rollback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3611880"/>
            <a:ext cx="1109441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 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固定随机种子 RANDOM_SEED=20260923——造数决策可复现；--count 参数控制「本次新增」数量</a:t>
            </a:r>
            <a:endParaRPr lang="en-US" sz="120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金额用 Decimal 不用 float 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浮点数在金额上是财务大忌（0.1+0.2≠0.3）——造数器全程 Decimal</a:t>
            </a:r>
            <a:endParaRPr lang="en-US" sz="120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事务化写入 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申请/审批/分录三表统一事务：全成功才提交，任一失败整体回滚——曾复现「打印写入完成但库里无数据」的半截脏数据案例</a:t>
            </a:r>
            <a:endParaRPr lang="en-US" sz="120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迭代路径 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冒烟 --count 10（先小代价试通）→ V5 放量 --count 10000；数据量 12 手工 → 22 冒烟 → 10,022 条</a:t>
            </a:r>
            <a:endParaRPr lang="en-US" sz="120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psycopg2 + execute_values 批量插入（page_size=1000）；早期设想的 SQLAlchemy/pandas 方案最终未采用——按真实依赖最小化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业务系统 · 验证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契约升级 55→72 项 + 异常注入反向验证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148840"/>
          </a:xfrm>
          <a:prstGeom prst="roundRect">
            <a:avLst>
              <a:gd name="adj" fmla="val 2979"/>
            </a:avLst>
          </a:prstGeom>
          <a:solidFill>
            <a:srgbClr val="FBEAE7"/>
          </a:solidFill>
          <a:ln w="12700">
            <a:solidFill>
              <a:srgbClr val="E8C4B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83794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23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发现：library 规则「空转」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68096" y="2258568"/>
            <a:ext cx="49560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库里有 3 条同人审批、3 条缺凭证，type: library + invalidValues 规则却报绿灯——CLI 1.2.0 下该 metric 未真正执行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处置：12 条业务规则全部改写为 type: sql + mustBe: 0（SQL 查违规行数必须为 0）——让契约「醒过来」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文档如实标注：未下定论为官方 Bug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45352" y="1691640"/>
            <a:ext cx="5394960" cy="2148840"/>
          </a:xfrm>
          <a:prstGeom prst="roundRect">
            <a:avLst>
              <a:gd name="adj" fmla="val 2979"/>
            </a:avLst>
          </a:prstGeom>
          <a:solidFill>
            <a:srgbClr val="E6F4EC"/>
          </a:solidFill>
          <a:ln w="12700">
            <a:solidFill>
              <a:srgbClr val="BFE0C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64808" y="183794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 项构成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64808" y="2258568"/>
            <a:ext cx="49560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 项基础（18 字段 × 3）+ 1 项唯一性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+ 5 项 maxLength 长度约束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+ 7 项 Business SQL 规则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+ 5 项 Risk SQL 规则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万级数据全 PASS：本地 1.50s / Kestra 1.38s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11094415" cy="2194560"/>
          </a:xfrm>
          <a:prstGeom prst="roundRect">
            <a:avLst>
              <a:gd name="adj" fmla="val 2917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4288536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1115568" y="4215384"/>
            <a:ext cx="103263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异常注入实验：证明门禁真能拦坏人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68096" y="4636008"/>
            <a:ext cx="106555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TXN-REQ10008~10012 五笔单据精确注入 5 类异常（同人审批/缺凭证/级别不足/近阈值/600 万超额）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结果：72 项中恰好 5 项 FAIL（was 1 expected 0），67 项仍 passed——一一对应，无漏报无误报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Pytest 回归：5 passed in 2.84s（连接/数据量≥10000/18 字段/5 类风险干净/真调 datacontract ci）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看板实测：交易总额 ¥3,514,698,851.00 ｜ 平均 ¥350,698.35 ｜ 最大单笔 ¥1,797,823.00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业务前台 · 功能设计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前台：6 个页面让业务「真实发生」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1296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11096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18562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" y="2313432"/>
            <a:ext cx="3072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工号+密码认证（demo_hash 演示级，文档明确标注非生产级）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34256" y="1691640"/>
            <a:ext cx="3511296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35424" y="1911096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901184" y="18562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我的信息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53712" y="2313432"/>
            <a:ext cx="3072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回显组织层级 employee_level 与系统角色 employee_roles——「职级≠授权」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19872" y="1691640"/>
            <a:ext cx="3511296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21040" y="1911096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0" y="18562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新建申请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39328" y="2313432"/>
            <a:ext cx="3072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提交业务申请落库 business_requests：金额/事由/是否含凭证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3511296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3739896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1115568" y="3685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我的申请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" y="4142232"/>
            <a:ext cx="3072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查看本人申请与审批状态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34256" y="3520440"/>
            <a:ext cx="3511296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35424" y="3739896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901184" y="3685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我的审批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53712" y="4142232"/>
            <a:ext cx="3072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approver 角色可见；审批通过自动记账生成 journal_entries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19872" y="3520440"/>
            <a:ext cx="3511296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21040" y="3739896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0" y="3685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自动路由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39328" y="4142232"/>
            <a:ext cx="3072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match_policy 按金额区间匹配策略；choose_approver 四条件选定审批人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486400"/>
            <a:ext cx="11094415" cy="914400"/>
          </a:xfrm>
          <a:prstGeom prst="roundRect">
            <a:avLst>
              <a:gd name="adj" fmla="val 7000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68096" y="5632704"/>
            <a:ext cx="1065550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架构形态：Streamlit 单文件多页面应用（erp_app V1→V5 五版迭代）+ psycopg2 直连 PostgreSQL——无 REST API 层，页面事件 → Python 函数 → SQL → 数据库。自我定位克制：「一套围绕 Data Contract 构建的最小业务系统，不是一套 ERP」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业务前台 · 核心逻辑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自动路由与自动记账：业务规则的两个「发动机」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3017520"/>
          </a:xfrm>
          <a:prstGeom prst="roundRect">
            <a:avLst>
              <a:gd name="adj" fmla="val 2121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11096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1837944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match_policy：申请 → 命中策略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68096" y="2258568"/>
            <a:ext cx="49560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输入：业务类型 + 类别 + 金额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[min, max) 区间匹配 approval_policies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输出：required_level（需几级审批）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规则改数据即调门槛——业务部门自助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45352" y="1691640"/>
            <a:ext cx="5394960" cy="3017520"/>
          </a:xfrm>
          <a:prstGeom prst="roundRect">
            <a:avLst>
              <a:gd name="adj" fmla="val 2121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1911096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1837944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choose_approver：策略 → 审批人（四条件）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64808" y="2258568"/>
            <a:ext cx="49560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在职（is_active）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级别 ≥ required_level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拥有 approver 角色（职级≠授权）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审批人 ≠ 申请人（不相容职务分离）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四条件同时满足——把内控原则写进路由算法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11094415" cy="1463040"/>
          </a:xfrm>
          <a:prstGeom prst="roundRect">
            <a:avLst>
              <a:gd name="adj" fmla="val 4375"/>
            </a:avLst>
          </a:prstGeom>
          <a:solidFill>
            <a:srgbClr val="E6F4EC"/>
          </a:solidFill>
          <a:ln w="12700">
            <a:solidFill>
              <a:srgbClr val="BFE0C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8096" y="5084064"/>
            <a:ext cx="10655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审批通过 → 自动记账（create_journal_entry）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68096" y="5486400"/>
            <a:ext cx="1065550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生成财务分录：transaction_id 按 TRX + approval_id 派生 ｜ 过账时间/金额/科目/制单人/审批人一次落齐 ｜ 风险标志位同步派生 ｜ 经视图进入契约检查范围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效果：员工在页面点「通过」的瞬间，一笔可被 72 项规则检查的交易就诞生了——PASS/FAIL 由真实业务动作触发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业务前台 · 排错实录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 幂等之战：一个 UniqueViolation 引出的三层防护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1371600"/>
          </a:xfrm>
          <a:prstGeom prst="roundRect">
            <a:avLst>
              <a:gd name="adj" fmla="val 4667"/>
            </a:avLst>
          </a:prstGeom>
          <a:solidFill>
            <a:srgbClr val="FBEAE7"/>
          </a:solidFill>
          <a:ln w="12700">
            <a:solidFill>
              <a:srgbClr val="E8C4B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837944"/>
            <a:ext cx="10655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23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事故现场：UniqueViolation: Key (transaction_id)=(TRX10025) already exists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68096" y="2194560"/>
            <a:ext cx="10655503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审批重复执行产生了重复分录——财务系统的头号禁忌「重复记账」在自家系统上演了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3566160" cy="1554480"/>
          </a:xfrm>
          <a:prstGeom prst="roundRect">
            <a:avLst>
              <a:gd name="adj" fmla="val 4118"/>
            </a:avLst>
          </a:prstGeom>
          <a:solidFill>
            <a:srgbClr val="E6F4EC"/>
          </a:solidFill>
          <a:ln w="12700">
            <a:solidFill>
              <a:srgbClr val="BFE0C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42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根因是 create_journal_entry() 里存在两套 INSERT——删掉一套，只留唯一写入路径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70832" y="3291840"/>
            <a:ext cx="3566160" cy="1554480"/>
          </a:xfrm>
          <a:prstGeom prst="roundRect">
            <a:avLst>
              <a:gd name="adj" fmla="val 4118"/>
            </a:avLst>
          </a:prstGeom>
          <a:solidFill>
            <a:srgbClr val="E6F4EC"/>
          </a:solidFill>
          <a:ln w="12700">
            <a:solidFill>
              <a:srgbClr val="BFE0C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53712" y="342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数据库兜底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53712" y="3840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 CONFLICT (transaction_id) DO NOTHING——重复写入静默忽略，不报错不重复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93024" y="3291840"/>
            <a:ext cx="3566160" cy="1554480"/>
          </a:xfrm>
          <a:prstGeom prst="roundRect">
            <a:avLst>
              <a:gd name="adj" fmla="val 4118"/>
            </a:avLst>
          </a:prstGeom>
          <a:solidFill>
            <a:srgbClr val="E6F4EC"/>
          </a:solidFill>
          <a:ln w="12700">
            <a:solidFill>
              <a:srgbClr val="BFE0C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75904" y="342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行锁 + 状态机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75904" y="3840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SELECT … FOR UPDATE 行级锁 + 仅「待审批」状态可审批——并发双击/刷新不产生二次记账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11094415" cy="1188720"/>
          </a:xfrm>
          <a:prstGeom prst="roundRect">
            <a:avLst>
              <a:gd name="adj" fmla="val 5385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8096" y="5266944"/>
            <a:ext cx="10655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两个概念讲清楚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68096" y="5687568"/>
            <a:ext cx="106555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幂等（Idempotency）：同一操作执行 N 次结果相同——重复审批不产生重复分录；这是支付/财务系统的生命线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诚实标注：报错修复 ✅ 已验证；「行锁能防住并发」🟡 逻辑推导（未做双会话实测）——文档用六档证据标记区分事实与推断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业务前台 · 权限设计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 极薄 RBAC：职级 ≠ 系统授权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468880"/>
          </a:xfrm>
          <a:prstGeom prst="roundRect">
            <a:avLst>
              <a:gd name="adj" fmla="val 2593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83794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两条独立的轴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68096" y="2258568"/>
            <a:ext cx="4956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组织层级：employees.employee_level（1-4 级）——「你是什么职级」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系统授权：employee_roles.role（employee/approver/data_admin/contract_admin）——「你在系统里能干什么」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刻意分离：4 级领导没授 approver 角色也审不了单；实习生被授权也能操作对应功能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45352" y="1691640"/>
            <a:ext cx="5394960" cy="2468880"/>
          </a:xfrm>
          <a:prstGeom prst="roundRect">
            <a:avLst>
              <a:gd name="adj" fmla="val 2593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64808" y="183794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四角色最小集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64808" y="2258568"/>
            <a:ext cx="4956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employee：提交申请、查自己的单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approver：审批（且不能审自己的单）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data_admin：数据管理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contract_admin：契约管理（阶段 7 的主角）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菜单按角色显隐 + 后端 require_role() 二次校验（防直接调函数绕过界面）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389120"/>
            <a:ext cx="1109441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双重校验  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审批动作同时检查 require_role(actor, "approver") 和 approver_id ≠ actor，违反即抛 PermissionError——「界面隐藏」只是体验，「后端拦截」才是安全</a:t>
            </a:r>
            <a:endParaRPr lang="en-US" sz="120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为什么叫「极薄」  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只做四角色 + 后端校验，不建完整 OA/工作流引擎/HR 权限中心——明确不做什么，和决定做什么一样重要</a:t>
            </a:r>
            <a:endParaRPr lang="en-US" sz="120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实证样例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E013 何静仅 employee 角色（看不到审批菜单）；E014 起为 employee+approver 双角色——角色回显覆盖 E013–E030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业务前台 · 迭代复盘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V6 被三句业务常识推翻 + 18 字段来源审计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880360"/>
          </a:xfrm>
          <a:prstGeom prst="roundRect">
            <a:avLst>
              <a:gd name="adj" fmla="val 2222"/>
            </a:avLst>
          </a:prstGeom>
          <a:solidFill>
            <a:srgbClr val="FBEAE7"/>
          </a:solidFill>
          <a:ln w="12700">
            <a:solidFill>
              <a:srgbClr val="E8C4B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83794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23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V6（已废弃）：三句追问当场推翻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68096" y="2258568"/>
            <a:ext cx="495604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①「他怎么自己提出、自己审批啊」——治理单也必须 requested_by ≠ approved_by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②「网页绝对不能直接改 YAML」——人机分工：网页收自然语言意图，LLM 翻译、确定性 Python 施工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把业务审批与技术 CI 验证混成一道门——CI 绿 ≠ 业务允许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结论：先有治理骨架，LLM 才有位置——V6 废弃但教训全部沉淀进阶段 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45352" y="1691640"/>
            <a:ext cx="5394960" cy="2880360"/>
          </a:xfrm>
          <a:prstGeom prst="roundRect">
            <a:avLst>
              <a:gd name="adj" fmla="val 2222"/>
            </a:avLst>
          </a:prstGeom>
          <a:solidFill>
            <a:srgbClr val="E6F4EC"/>
          </a:solidFill>
          <a:ln w="12700">
            <a:solidFill>
              <a:srgbClr val="BFE0C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64808" y="183794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V4：18 字段来源审计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64808" y="2258568"/>
            <a:ext cx="495604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逐个回答 18 个契约字段「来自哪张表、哪个用户操作、哪条派生逻辑」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成果：契约字段从「数据文件里的列」变成「业务动作的投影」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E2E 证据链：REQ10023 申请 → APR10024 审批 → TRX10024 分录 → 契约检查，行数 10022 → 10023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 项检查双向验证：missing_support_flag 的 PASS 与 FAIL 均被真实业务动作触发 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937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阶段六收口（V5 稳定基线）：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登录/申请/审批/自动记账/幂等保护/18 字段审计/72 项检查/极薄 RBAC 全部 ✅ 已验证；生产级认证 ❌ 明确不具备；Contract 治理 🔵 转入阶段 7 重构。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治理与 LLM：给契约本身装上「治理」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契约变更单 + 四道闸门 + LLM 三层防御 —— Contract 管数据，Governance 管 Contract 的变化，LLM 辅助治理与诊断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21字段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变更单（CCR）审计维度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47472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2道闸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47472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输出确定性校验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1792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0/3→2/2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21792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危险需求拒答率修复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96112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18条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96112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Evals 黄金测试集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A0D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治理与LLM · 阶段目标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 的缺口：契约文件「谁都能改、改了没人知道」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514600"/>
          </a:xfrm>
          <a:prstGeom prst="roundRect">
            <a:avLst>
              <a:gd name="adj" fmla="val 2545"/>
            </a:avLst>
          </a:prstGeom>
          <a:solidFill>
            <a:srgbClr val="FBEAE7"/>
          </a:solidFill>
          <a:ln w="12700">
            <a:solidFill>
              <a:srgbClr val="E8C4B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83794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23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四个无人回答的问题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68096" y="2258568"/>
            <a:ext cx="49560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谁改的？——无发起人记录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为什么改？——无业务理由留痕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谁批的？——无审批环节，保存即生效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改完以前合规的数据还算不算数？——无影响评估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45352" y="1691640"/>
            <a:ext cx="5394960" cy="2514600"/>
          </a:xfrm>
          <a:prstGeom prst="roundRect">
            <a:avLst>
              <a:gd name="adj" fmla="val 2545"/>
            </a:avLst>
          </a:prstGeom>
          <a:solidFill>
            <a:srgbClr val="E6F4EC"/>
          </a:solidFill>
          <a:ln w="12700">
            <a:solidFill>
              <a:srgbClr val="BFE0C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64808" y="183794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治理目标：与财务凭证同级的管控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64808" y="2258568"/>
            <a:ext cx="49560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变更单（CCR）：谁提的、为什么改、谁批的（禁自审批）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留痕：改了哪个文件、哪次提交（SHA 回填）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影响评估：新旧规则下历史数据四分类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可回退：版本指针移动，不动业务数据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434840"/>
            <a:ext cx="11094415" cy="1737360"/>
          </a:xfrm>
          <a:prstGeom prst="roundRect">
            <a:avLst>
              <a:gd name="adj" fmla="val 3684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68096" y="4581144"/>
            <a:ext cx="10655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引入的克制边界（明确划界）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68096" y="5001768"/>
            <a:ext cx="1065550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做：Contract Copilot——把财务自然语言需求翻译成结构化规则「候选」（绝不自动改生产契约）；Failure Explanation——只解释已被确定性判定的异常类别（绝不让 LLM 判断哪条数据违规）；Incident Copilot——聚合一次执行的失败生成事故报告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不做：智能问答、Text2SQL、SQL Copilot——「无需求来源」，明确移出主线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治理与LLM · 治理骨架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1：变更单（CCR）+ 四道闸门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937760" cy="2651760"/>
          </a:xfrm>
          <a:prstGeom prst="roundRect">
            <a:avLst>
              <a:gd name="adj" fmla="val 2414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837944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两张治理表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68096" y="2258568"/>
            <a:ext cx="44988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contract_change_requests（21 字段）：变更编号/版本 from→to/业务理由/LLM 规则 JSON/生成的 diff/发起人/审批人/Git SHA/状态（七态 CHECK）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contract_change_audit（8 字段）：仅 3 个写入时机（提交/审批/驳回）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 contract_approver 角色（E002 李敏）——契约审批权独立于业务审批权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06440" y="1691640"/>
            <a:ext cx="585216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016752" y="19751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016752" y="196413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28" dirty="0"/>
          </a:p>
        </p:txBody>
      </p:sp>
      <p:sp>
        <p:nvSpPr>
          <p:cNvPr id="10" name="Text 8"/>
          <p:cNvSpPr/>
          <p:nvPr/>
        </p:nvSpPr>
        <p:spPr>
          <a:xfrm>
            <a:off x="6537960" y="1801368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角色闸门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75320" y="1801368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contract_approver 角色无法审批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06440" y="2788920"/>
            <a:ext cx="585216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16752" y="30723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016752" y="306141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28" dirty="0"/>
          </a:p>
        </p:txBody>
      </p:sp>
      <p:sp>
        <p:nvSpPr>
          <p:cNvPr id="15" name="Text 13"/>
          <p:cNvSpPr/>
          <p:nvPr/>
        </p:nvSpPr>
        <p:spPr>
          <a:xfrm>
            <a:off x="6537960" y="2898648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状态闸门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75320" y="2898648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仅「待审批」状态可流转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06440" y="3886200"/>
            <a:ext cx="585216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16752" y="41696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016752" y="415869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28" dirty="0"/>
          </a:p>
        </p:txBody>
      </p:sp>
      <p:sp>
        <p:nvSpPr>
          <p:cNvPr id="20" name="Text 18"/>
          <p:cNvSpPr/>
          <p:nvPr/>
        </p:nvSpPr>
        <p:spPr>
          <a:xfrm>
            <a:off x="6537960" y="3995928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自审批闸门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75320" y="3995928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requested_by ≠ approved_by（SQL 过滤 + 写库层双保险）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06440" y="4983480"/>
            <a:ext cx="585216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16752" y="52669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016752" y="525597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28" dirty="0"/>
          </a:p>
        </p:txBody>
      </p:sp>
      <p:sp>
        <p:nvSpPr>
          <p:cNvPr id="25" name="Text 23"/>
          <p:cNvSpPr/>
          <p:nvPr/>
        </p:nvSpPr>
        <p:spPr>
          <a:xfrm>
            <a:off x="6537960" y="5093208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事务闸门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75320" y="5093208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行级锁 FOR UPDATE 防并发双审批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572000"/>
            <a:ext cx="4937760" cy="1737360"/>
          </a:xfrm>
          <a:prstGeom prst="roundRect">
            <a:avLst>
              <a:gd name="adj" fmla="val 3684"/>
            </a:avLst>
          </a:prstGeom>
          <a:solidFill>
            <a:srgbClr val="E6F4EC"/>
          </a:solidFill>
          <a:ln w="12700">
            <a:solidFill>
              <a:srgbClr val="BFE0C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68096" y="4718304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验收实录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68096" y="5102352"/>
            <a:ext cx="449884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正向：E001 提单、E002 审批通过（1.0.0→1.0.1）</a:t>
            </a:r>
            <a:endParaRPr lang="en-US" sz="10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负向一：E005 无角色被拒 ✓</a:t>
            </a:r>
            <a:endParaRPr lang="en-US" sz="10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负向二：E001 临时授权后审批自己的单仍被 PermissionError 拒绝 ✓——测完撤销临时权限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发现并修复 8 小时时间差：Python datetime.now() vs PG CURRENT_TIMESTAMP，统一以后者为准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治理与LLM · Copilot 架构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Contract Copilot：从「人话」到「规则候选」的确定性管道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755648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65960"/>
            <a:ext cx="15727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财务人话</a:t>
            </a:r>
            <a:endParaRPr lang="en-US" sz="9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「超过500万要4级审批」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322576" y="2487168"/>
            <a:ext cx="146304" cy="310896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2468880" y="1828800"/>
            <a:ext cx="1755648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965960"/>
            <a:ext cx="15727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LLM（DeepSeek 网页版）</a:t>
            </a:r>
            <a:endParaRPr lang="en-US" sz="9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输出结构化 JSON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42816" y="2487168"/>
            <a:ext cx="146304" cy="310896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0" name="Shape 8"/>
          <p:cNvSpPr/>
          <p:nvPr/>
        </p:nvSpPr>
        <p:spPr>
          <a:xfrm>
            <a:off x="4389120" y="1828800"/>
            <a:ext cx="1755648" cy="1645920"/>
          </a:xfrm>
          <a:prstGeom prst="roundRect">
            <a:avLst>
              <a:gd name="adj" fmla="val 388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1965960"/>
            <a:ext cx="15727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闸门一：JSON Schema</a:t>
            </a:r>
            <a:endParaRPr lang="en-US" sz="9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算符白名单/必填/禁额外字段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63056" y="2487168"/>
            <a:ext cx="146304" cy="310896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1828800"/>
            <a:ext cx="1755648" cy="1645920"/>
          </a:xfrm>
          <a:prstGeom prst="roundRect">
            <a:avLst>
              <a:gd name="adj" fmla="val 388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1965960"/>
            <a:ext cx="15727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闸门二：字段白名单</a:t>
            </a:r>
            <a:endParaRPr lang="en-US" sz="9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字段必须在契约中真实存在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083296" y="2487168"/>
            <a:ext cx="146304" cy="310896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1828800"/>
            <a:ext cx="1755648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21040" y="1965960"/>
            <a:ext cx="15727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确定性生成</a:t>
            </a:r>
            <a:endParaRPr lang="en-US" sz="9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rule_id 内容寻址 + YAML diff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003536" y="2487168"/>
            <a:ext cx="146304" cy="310896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49840" y="1828800"/>
            <a:ext cx="1755648" cy="1645920"/>
          </a:xfrm>
          <a:prstGeom prst="roundRect">
            <a:avLst>
              <a:gd name="adj" fmla="val 3889"/>
            </a:avLst>
          </a:prstGeom>
          <a:solidFill>
            <a:srgbClr val="E6F4EC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241280" y="1965960"/>
            <a:ext cx="15727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candidate 候选版</a:t>
            </a:r>
            <a:endParaRPr lang="en-US" sz="9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永不覆盖生产契约 → 走 CCR 人工审批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379476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先定 JSON 合同，再接模型 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的输出格式被 JSON Schema 预先钉死：算符只允许 &gt;、&gt;=、&lt;、&lt;=、=、!=——模型不决定边界，边界先于模型</a:t>
            </a:r>
            <a:endParaRPr lang="en-US" sz="115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candidate 机制 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变更先生成「假设批准后的完整契约预览 + diff 改动清单」，供审核人查看；生产契约一字不动——LLM 是翻译官，Python 是施工队，人是审批官</a:t>
            </a:r>
            <a:endParaRPr lang="en-US" sz="115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内容寻址 rule_id 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 ID = sha256(内容) 前 12 位——内容变 ID 变，天然幂等防重复</a:t>
            </a:r>
            <a:endParaRPr lang="en-US" sz="115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按缩进插入而非重序列化 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YAML diff 按行按缩进插入，保住原文件的注释与格式——diff 可审、可读</a:t>
            </a:r>
            <a:endParaRPr lang="en-US" sz="1150" dirty="0"/>
          </a:p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模型取证方式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网页对话版（非 API）：原始返回逐字存档 llm_raw_01~06.txt，模型版本+提示词版本+输入哈希三件套固化证据——不伪称全链路可复现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治理与LLM · 安全模型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三层防御：提示词管模型 / 闸门管规则 / 变更单管放行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02736" cy="3794760"/>
          </a:xfrm>
          <a:prstGeom prst="roundRect">
            <a:avLst>
              <a:gd name="adj" fmla="val 1777"/>
            </a:avLst>
          </a:prstGeom>
          <a:solidFill>
            <a:srgbClr val="FFF8E1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74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第一层：提示词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9808" y="2304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管「模型怎么想」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2697480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示例不含真实业务值（防示例泄漏）；明确两种必须拒答情形：无可量化依据 / 削弱内控；业务语义纠正（审批层级是下限语义 &gt;= N，不是 = N）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" y="45262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能被绕过——模型是概率系统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70832" y="1691640"/>
            <a:ext cx="3602736" cy="3794760"/>
          </a:xfrm>
          <a:prstGeom prst="roundRect">
            <a:avLst>
              <a:gd name="adj" fmla="val 1777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1874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第二层：确定性闸门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0" y="2304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管「规则合不合法」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2697480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闸：结构/算符/必填/禁额外字段；字段白名单闸：字段必须真实存在。代码 100% 可预测，不依赖模型自觉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45262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拦得住格式错，拦不住「语义正确但业务无依据」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93024" y="1691640"/>
            <a:ext cx="3602736" cy="3794760"/>
          </a:xfrm>
          <a:prstGeom prst="roundRect">
            <a:avLst>
              <a:gd name="adj" fmla="val 1777"/>
            </a:avLst>
          </a:prstGeom>
          <a:solidFill>
            <a:srgbClr val="E6F4EC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94192" y="1874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第三层：变更单（人）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394192" y="2304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管「放行不放行」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94192" y="2697480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candidate + diff 交 contract_approver 人工审批；影响评估辅助决策；Git 留痕可回退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94192" y="45262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最终防线——前两层的缺口都由人兜底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5806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本卷最重要结论：三层缺一不可，谁也不能替另一层背书——承认每层的天花板，才是对系统安全最大的诚实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治理与LLM · 实测发现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真模型实测：六个用数据说话的发现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1296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11096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183794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数值边界 4/4 全对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8096" y="2468880"/>
            <a:ext cx="3072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「恰好 500 万」→ = 5000000、「超过 500 万零 1 元」→ &gt; 5000001——模型擅长精确数值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34256" y="1691640"/>
            <a:ext cx="3511296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35424" y="1911096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4901184" y="183794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内控语义 3 句全错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53712" y="2468880"/>
            <a:ext cx="3072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审批级别全写成 = N 而非 &gt;= N——会把走了更高级别审批的合规单据误判违规（隐蔽假阳性）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19872" y="1691640"/>
            <a:ext cx="3511296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21040" y="1911096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0" y="183794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闸门有天花板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39328" y="2468880"/>
            <a:ext cx="3072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无数值依据的需求仍输出 amount &gt; 5000000 并穿透两道闸——格式正确 ≠ 业务有依据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3511296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4014216"/>
            <a:ext cx="274320" cy="274320"/>
          </a:xfrm>
          <a:prstGeom prst="ellipse">
            <a:avLst/>
          </a:prstGeom>
          <a:solidFill>
            <a:srgbClr val="B2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1115568" y="394106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危险需求拒答率 0/3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8096" y="4572000"/>
            <a:ext cx="3072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「关闭所有检查」「忽略缺凭证」「允许自审批」全部被翻成合法 JSON——v1 提示词无任何防线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34256" y="3794760"/>
            <a:ext cx="3511296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35424" y="4014216"/>
            <a:ext cx="274320" cy="274320"/>
          </a:xfrm>
          <a:prstGeom prst="ellipse">
            <a:avLst/>
          </a:prstGeom>
          <a:solidFill>
            <a:srgbClr val="B23B2E"/>
          </a:solidFill>
          <a:ln/>
        </p:spPr>
      </p:sp>
      <p:sp>
        <p:nvSpPr>
          <p:cNvPr id="22" name="Text 20"/>
          <p:cNvSpPr/>
          <p:nvPr/>
        </p:nvSpPr>
        <p:spPr>
          <a:xfrm>
            <a:off x="4901184" y="394106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语义翻转 bug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53712" y="4572000"/>
            <a:ext cx="3072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「放松」类需求经 requirements 槽位被写成 AND NOT——「忽略检查」落库变成「强制违反」，方向完全反了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19872" y="3794760"/>
            <a:ext cx="3511296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21040" y="4014216"/>
            <a:ext cx="274320" cy="274320"/>
          </a:xfrm>
          <a:prstGeom prst="ellipse">
            <a:avLst/>
          </a:prstGeom>
          <a:solidFill>
            <a:srgbClr val="B23B2E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0" y="394106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对照实验定真因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39328" y="4572000"/>
            <a:ext cx="3072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全新对话输出与历史逐字节相同 → 排除「上下文污染」，确认真凶是「提示词示例泄漏」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治理与LLM · 修复验证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 v2 三处手术：拒答率 0/3 → 2/2，且不误伤正常需求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02736" cy="1691640"/>
          </a:xfrm>
          <a:prstGeom prst="roundRect">
            <a:avLst>
              <a:gd name="adj" fmla="val 3784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745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6354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6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示例去泄漏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39572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示例值换成占位符并声明「禁止照抄，原话里没有的一律不许自己填」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70832" y="1691640"/>
            <a:ext cx="3602736" cy="1691640"/>
          </a:xfrm>
          <a:prstGeom prst="roundRect">
            <a:avLst>
              <a:gd name="adj" fmla="val 3784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18745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186354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60" dirty="0"/>
          </a:p>
        </p:txBody>
      </p:sp>
      <p:sp>
        <p:nvSpPr>
          <p:cNvPr id="12" name="Text 10"/>
          <p:cNvSpPr/>
          <p:nvPr/>
        </p:nvSpPr>
        <p:spPr>
          <a:xfrm>
            <a:off x="5010912" y="185623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补拒答情形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239572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两种必须拒答：无可量化依据 / 削弱内控；拒答输出 REJECT: 原因（非合法 JSON，天然被 Schema 闸拦下）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93024" y="1691640"/>
            <a:ext cx="3602736" cy="1691640"/>
          </a:xfrm>
          <a:prstGeom prst="roundRect">
            <a:avLst>
              <a:gd name="adj" fmla="val 3784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18745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75904" y="186354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60" dirty="0"/>
          </a:p>
        </p:txBody>
      </p:sp>
      <p:sp>
        <p:nvSpPr>
          <p:cNvPr id="17" name="Text 15"/>
          <p:cNvSpPr/>
          <p:nvPr/>
        </p:nvSpPr>
        <p:spPr>
          <a:xfrm>
            <a:off x="8833104" y="185623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语义纠正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94192" y="239572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明确「审批层级是下限语义：写 &gt;= N，不要写 = N」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E6F4EC"/>
          </a:solidFill>
          <a:ln w="12700">
            <a:solidFill>
              <a:srgbClr val="BFE0C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68096" y="380390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双向验证（不是只盯一个指标）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68096" y="4206240"/>
            <a:ext cx="495604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危险需求：拒答率 0/3 → 2/2 ✓（防线立起来了）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正常需求：不被误拒 ✓（没有因噎废食）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Evals 黄金集 18 条基线：偏差 0 / 被拦 6 / 闸门缺口 5——缺口如实标注，由变更单兜底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45352" y="3657600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64808" y="380390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Evals：防「换模型就退化」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64808" y="4206240"/>
            <a:ext cx="495604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条黄金用例 = 历史模型原始返回，离线回放两道闸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 500 万阈值四组边界 + 危险需求拒绝率三类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run_evals.py 退出码 0/1 → 挂 GitHub Actions：push/PR 自动跑——Prompt/模型变更必须过回归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治理与LLM · 运行诊断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诊断三件套：解释异常、定位修复、告警降噪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02736" cy="3977640"/>
          </a:xfrm>
          <a:prstGeom prst="roundRect">
            <a:avLst>
              <a:gd name="adj" fmla="val 1777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11096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18379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Failure Explanation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失败解释器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68096" y="2560320"/>
            <a:ext cx="316382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确定性分类在前：rule_id 精确到「模型.字段.第几条」</a:t>
            </a:r>
            <a:endParaRPr lang="en-US" sz="10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只解释「这类问题通常什么原因」，不判断哪条数据违规</a:t>
            </a:r>
            <a:endParaRPr lang="en-US" sz="10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五键缓存（契约版本+规则+错误签名+提示词+模型版本）：同类只调一次，版本变即隔离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实测：注入 600 万脏数据真报 FAIL，回滚无污染；缓存 RUN1 0 命中 / RUN2 1 命中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602736" cy="3977640"/>
          </a:xfrm>
          <a:prstGeom prst="roundRect">
            <a:avLst>
              <a:gd name="adj" fmla="val 1777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98848" y="1911096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864608" y="18379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Repair Order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结构化修复单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17136" y="2560320"/>
            <a:ext cx="316382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 SQL 定位到单据：视图内子查询筛 transaction_id 再 JOIN 分录表（注意底层字段名差异）</a:t>
            </a:r>
            <a:endParaRPr lang="en-US" sz="10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固定模板输出：单据号/源申请/申请人/违规规则/原因/建议</a:t>
            </a:r>
            <a:endParaRPr lang="en-US" sz="10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原因与建议来自确定性映射表——LLM 不参与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实测：600 万定位 TRX10024/REQ10024/E023；缺凭证定位 TRX10025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602736" cy="3977640"/>
          </a:xfrm>
          <a:prstGeom prst="roundRect">
            <a:avLst>
              <a:gd name="adj" fmla="val 1777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47888" y="1911096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613648" y="18379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Alert Dedup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告警去重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66176" y="2560320"/>
            <a:ext cx="316382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问题：同一失败每次执行重复告警 → 告警疲劳</a:t>
            </a:r>
            <a:endParaRPr lang="en-US" sz="10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方案：进程内 Set + TTL（默认 300 秒窗口），去重键 = 执行ID+失败规则+窗口起点</a:t>
            </a:r>
            <a:endParaRPr lang="en-US" sz="10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明确不引 Redis——单进程够用，不为炫耀堆技术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项测试全 PASS（同窗口 1 发 4 抑、TTL 重置等）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治理与LLM · 治理能力全景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Incident Copilot + 治理三件套（影响评估/回退/事中提示）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377440"/>
          </a:xfrm>
          <a:prstGeom prst="roundRect">
            <a:avLst>
              <a:gd name="adj" fmla="val 2692"/>
            </a:avLst>
          </a:prstGeom>
          <a:solidFill>
            <a:srgbClr val="EEF3FD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83794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Incident Copilot：一键事故报告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68096" y="2258568"/>
            <a:ext cx="49560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输入：一次 Kestra 执行的失败批次 + 日志 → 输出四节报告：已确认事实/异常证据/潜在原因/修复建议</a:t>
            </a:r>
            <a:endParaRPr lang="en-US" sz="105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incident_id 内容寻址保证幂等；复用解释器缓存、告警去重、修复单定位、审计日志四个既有模块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 6 组断言全 PASS；实跑 incident inc-6a745be2a422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45352" y="1691640"/>
            <a:ext cx="5394960" cy="1353312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801368"/>
            <a:ext cx="21488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变更影响评估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41080" y="17830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新旧规则 diff + 历史数据四分类（PASS→PASS / PASS→FAIL / FAIL→PASS / FAIL→FAIL）；凡出现 PASS→FAIL 必须独立审批人签字——回答「以前那 137 笔怎么办」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8641080" y="267919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7D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cia-082959f21d1d：4/2/0/2，2 笔需审批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45352" y="3172968"/>
            <a:ext cx="5394960" cy="1353312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3282696"/>
            <a:ext cx="21488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契约版本回退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41080" y="3264408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只移动 is_current 版本指针，不碰任何业务数据；回退本身也登记为一条变更单待审批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8641080" y="416052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7D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cvr-4e908d4fad（kind=rollback）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45352" y="4654296"/>
            <a:ext cx="5394960" cy="1353312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4764024"/>
            <a:ext cx="21488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事中邻近提示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641080" y="4745736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新阈值 ±5% 邻近带提示历史交易——仅提示，绝不拦截；血缘未就绪（traceability_ready=False）时不启用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8641080" y="564184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7D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enabled=True，hint_count=1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5394960" cy="1920240"/>
          </a:xfrm>
          <a:prstGeom prst="roundRect">
            <a:avLst>
              <a:gd name="adj" fmla="val 3333"/>
            </a:avLst>
          </a:prstGeom>
          <a:solidFill>
            <a:srgbClr val="E6F4EC"/>
          </a:solidFill>
          <a:ln w="12700">
            <a:solidFill>
              <a:srgbClr val="BFE0C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68096" y="444398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联合验收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68096" y="4846320"/>
            <a:ext cx="495604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test_governance_345.py：8/8 PASS</a:t>
            </a:r>
            <a:endParaRPr lang="en-US" sz="11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审计链完整：变更单 CCR00005 的审计记录 2 行 → 3 行（提交→Git 提交 SHA 回填→审批）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证据 commit：23421e0a…（只提交 candidate + diff，生产契约一字未动）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难点与创新 · 验证数字 · 个人收获 · 下一步规划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「为什么做 — 怎么做 — 做出了什么 — 效果与优势」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A0D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总结 · 难点与创新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六大难点 × 六大创新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731520"/>
          </a:xfrm>
          <a:prstGeom prst="roundRect">
            <a:avLst>
              <a:gd name="adj" fmla="val 8750"/>
            </a:avLst>
          </a:prstGeom>
          <a:solidFill>
            <a:srgbClr val="FBEAE7"/>
          </a:solidFill>
          <a:ln w="12700">
            <a:solidFill>
              <a:srgbClr val="E8C4B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19072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B23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难点：Windows 容器环境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063240" y="1719072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坑排错链：虚拟化/WSL2/网络拓扑/凭据注入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440680" cy="731520"/>
          </a:xfrm>
          <a:prstGeom prst="roundRect">
            <a:avLst>
              <a:gd name="adj" fmla="val 8750"/>
            </a:avLst>
          </a:prstGeom>
          <a:solidFill>
            <a:srgbClr val="E6F4EC"/>
          </a:solidFill>
          <a:ln w="12700">
            <a:solidFill>
              <a:srgbClr val="BFE0C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719072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创新：「文件思维→数据库思维」的范式转变决策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5440680" cy="731520"/>
          </a:xfrm>
          <a:prstGeom prst="roundRect">
            <a:avLst>
              <a:gd name="adj" fmla="val 8750"/>
            </a:avLst>
          </a:prstGeom>
          <a:solidFill>
            <a:srgbClr val="FBEAE7"/>
          </a:solidFill>
          <a:ln w="12700">
            <a:solidFill>
              <a:srgbClr val="E8C4B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56032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B23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难点：规则静默失效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063240" y="2560320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YAML 缩进让规则「人间蒸发」，全绿是假象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2487168"/>
            <a:ext cx="5440680" cy="731520"/>
          </a:xfrm>
          <a:prstGeom prst="roundRect">
            <a:avLst>
              <a:gd name="adj" fmla="val 8750"/>
            </a:avLst>
          </a:prstGeom>
          <a:solidFill>
            <a:srgbClr val="E6F4EC"/>
          </a:solidFill>
          <a:ln w="12700">
            <a:solidFill>
              <a:srgbClr val="BFE0C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256032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创新：检查项计数公式（字段数×3+1）——可验证口径贯穿全程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328416"/>
            <a:ext cx="5440680" cy="731520"/>
          </a:xfrm>
          <a:prstGeom prst="roundRect">
            <a:avLst>
              <a:gd name="adj" fmla="val 8750"/>
            </a:avLst>
          </a:prstGeom>
          <a:solidFill>
            <a:srgbClr val="FBEAE7"/>
          </a:solidFill>
          <a:ln w="12700">
            <a:solidFill>
              <a:srgbClr val="E8C4B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401568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B23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难点：工具链版本漂移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63240" y="3401568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--format 被移除、library 规则空转、JSON 结构漂移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3328416"/>
            <a:ext cx="5440680" cy="731520"/>
          </a:xfrm>
          <a:prstGeom prst="roundRect">
            <a:avLst>
              <a:gd name="adj" fmla="val 8750"/>
            </a:avLst>
          </a:prstGeom>
          <a:solidFill>
            <a:srgbClr val="E6F4EC"/>
          </a:solidFill>
          <a:ln w="12700">
            <a:solidFill>
              <a:srgbClr val="BFE0C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3401568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创新：防御性兼容设计 + 「版本号是报错坐标系」方法论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169664"/>
            <a:ext cx="5440680" cy="731520"/>
          </a:xfrm>
          <a:prstGeom prst="roundRect">
            <a:avLst>
              <a:gd name="adj" fmla="val 8750"/>
            </a:avLst>
          </a:prstGeom>
          <a:solidFill>
            <a:srgbClr val="FBEAE7"/>
          </a:solidFill>
          <a:ln w="12700">
            <a:solidFill>
              <a:srgbClr val="E8C4B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4242816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B23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难点：证明门禁有效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063240" y="4242816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基准数据全绿，无法证明能拦坏人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4169664"/>
            <a:ext cx="5440680" cy="731520"/>
          </a:xfrm>
          <a:prstGeom prst="roundRect">
            <a:avLst>
              <a:gd name="adj" fmla="val 8750"/>
            </a:avLst>
          </a:prstGeom>
          <a:solidFill>
            <a:srgbClr val="E6F4EC"/>
          </a:solidFill>
          <a:ln w="12700">
            <a:solidFill>
              <a:srgbClr val="BFE0C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0" y="4242816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创新：异常注入反向验证——5 类违规注入与 5 项 FAIL 一一对应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5010912"/>
            <a:ext cx="5440680" cy="731520"/>
          </a:xfrm>
          <a:prstGeom prst="roundRect">
            <a:avLst>
              <a:gd name="adj" fmla="val 8750"/>
            </a:avLst>
          </a:prstGeom>
          <a:solidFill>
            <a:srgbClr val="FBEAE7"/>
          </a:solidFill>
          <a:ln w="12700">
            <a:solidFill>
              <a:srgbClr val="E8C4B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5084064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B23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难点：重复记账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063240" y="5084064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UniqueViolation——财务系统头号禁忌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5010912"/>
            <a:ext cx="5440680" cy="731520"/>
          </a:xfrm>
          <a:prstGeom prst="roundRect">
            <a:avLst>
              <a:gd name="adj" fmla="val 8750"/>
            </a:avLst>
          </a:prstGeom>
          <a:solidFill>
            <a:srgbClr val="E6F4EC"/>
          </a:solidFill>
          <a:ln w="12700">
            <a:solidFill>
              <a:srgbClr val="BFE0C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0" y="508406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创新：幂等三层防护（唯一写入路径+ON CONFLICT+行锁状态机）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852160"/>
            <a:ext cx="5440680" cy="731520"/>
          </a:xfrm>
          <a:prstGeom prst="roundRect">
            <a:avLst>
              <a:gd name="adj" fmla="val 8750"/>
            </a:avLst>
          </a:prstGeom>
          <a:solidFill>
            <a:srgbClr val="FBEAE7"/>
          </a:solidFill>
          <a:ln w="12700">
            <a:solidFill>
              <a:srgbClr val="E8C4B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1520" y="5925312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B23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难点：LLM 不可控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063240" y="5925312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幻觉、示例泄漏、危险需求照单全收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5852160"/>
            <a:ext cx="5440680" cy="731520"/>
          </a:xfrm>
          <a:prstGeom prst="roundRect">
            <a:avLst>
              <a:gd name="adj" fmla="val 8750"/>
            </a:avLst>
          </a:prstGeom>
          <a:solidFill>
            <a:srgbClr val="E6F4EC"/>
          </a:solidFill>
          <a:ln w="12700">
            <a:solidFill>
              <a:srgbClr val="BFE0CD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00800" y="5925312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创新：三层防御模型 + 确定性闸门 + Evals 黄金集回归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总结 · 验证数字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一切用数字说话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15184" cy="1389888"/>
          </a:xfrm>
          <a:prstGeom prst="roundRect">
            <a:avLst>
              <a:gd name="adj" fmla="val 460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19656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1,000,000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基准数据行数（100 万行全量校验）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615184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819656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520440" y="233172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契约检查项（54 基础+1 唯一+5 长度+12 SQL）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615184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819656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1.38s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355080" y="233172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万级数据 72 项校验耗时（Kestra 实跑）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052560" y="1691640"/>
            <a:ext cx="2615184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89720" y="1819656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10,022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189720" y="233172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业务系统造数条数（种子可复现）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264408"/>
            <a:ext cx="2615184" cy="1389888"/>
          </a:xfrm>
          <a:prstGeom prst="roundRect">
            <a:avLst>
              <a:gd name="adj" fmla="val 460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392424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6表+1视图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85800" y="3904488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业务数据模型（含级别快照/联合唯一等内控设计）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83280" y="3264408"/>
            <a:ext cx="2615184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20440" y="3392424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5/5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3520440" y="3904488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异常注入命中率（5 类违规 ↔ 5 项 FAIL）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17920" y="3264408"/>
            <a:ext cx="2615184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55080" y="3392424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每天06:00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355080" y="3904488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Kestra 定时门禁（cron 自动执行）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052560" y="3264408"/>
            <a:ext cx="2615184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89720" y="3392424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数秒内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189720" y="3904488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失败告警直达钉钉群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4837176"/>
            <a:ext cx="2615184" cy="1389888"/>
          </a:xfrm>
          <a:prstGeom prst="roundRect">
            <a:avLst>
              <a:gd name="adj" fmla="val 460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5800" y="4965192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18条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685800" y="5477256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Evals 黄金集（偏差 0）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83280" y="4837176"/>
            <a:ext cx="2615184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520440" y="4965192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8/8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3520440" y="5477256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治理三件套联合测试通过率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4837176"/>
            <a:ext cx="2615184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55080" y="4965192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21字段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6355080" y="5477256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变更单审计维度（谁提/为何/谁批/Git SHA）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052560" y="4837176"/>
            <a:ext cx="2615184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189720" y="4965192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40+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9189720" y="5477256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A51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全程排错实录（9+2+23+… 个真实坑）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1A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68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打破「月结崩盘→事后补救」的死循环，把审计左移到数据源头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怎么做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数据契约 + 七阶段 MVP 迭代：规则 → 看板 → 生产化 → 安全 → 业务系统 → 前台 → 治理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做出了什么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每日自动运行的财务数据质量门禁：72 项内控检查 + 告警 + 看板 + 治理 + LLM 辅助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下一步（🔵 规划，写明触发条件）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041648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大数据量形态：影响评估迁 Spark/ClickHouse；多团队契约管理迁 Nacos/Apollo</a:t>
            </a:r>
            <a:endParaRPr lang="en-US" sz="1200" dirty="0"/>
          </a:p>
          <a:p>
            <a:pPr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护栏④全链路可复现：切 API 形态固定 temperature/seed；CI 接托管平台首跑验证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企业化五层差距：7×24 部署 / SSO 用户体系 / ERP 定期 ETL / 归因到人 / 告警按规则路由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534924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2B3A7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5504688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 × 数据 × 工程 —— 懂业务、会工程、能排错。感谢聆听，请各位老师批评指正！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A0D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 standalone="yes"?>
	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		<dc:title>ERP 财务数据契约治理平台 · 项目答辩</dc:title>
		<dc:subject>PptxGenJS Presentation</dc:subject>
		<dc:creator><用户名></dc:creator>
		<cp:lastModifiedBy><用户名></cp:lastModifiedBy>
		<cp:revision>1</cp:revision>
		<dcterms:created xsi:type="dcterms:W3CDTF">2026-10-04T06:56:18Z</dcterms:created>
		<dcterms:modified xsi:type="dcterms:W3CDTF">2026-10-04T06:56:18Z</dcterms:modified>
	</cp:coreProperties>
</file>